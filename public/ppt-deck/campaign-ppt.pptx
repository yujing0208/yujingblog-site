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大家好，我是高一五十七班的杨伊琳，也是我们班的班长和团支部组织委员。今天站在这里，是想竞选团总支书记——带着这一年的热情和做过的每一件事，请同学们给我一个机会。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先简单介绍自己。我是共青团员，现任班长和团支部组织委员，同时是团总支的高一负责人。学校里我还负责艺言艺语社的高一工作，也是时政社的一员。可以说，团务一线的每一环，我都摸过、干过。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年里我做了不少团务工作：参与并主持红色研学活动，审核整理高一年级全体团员的档案，主持高二、高三的团员结业活动，参与每一次团日活动，也监考过团课考试。屏幕上这几张截图和证明，都是当时留下的记录——监考报名、会议通知、我手绘的国家安全教育日海报，还有团委盖章的工时证明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我觉得自己能胜任？第一，工作热情，团总支的各项工作我都积极报名；第二，责任心强，交到我手上的每一份工作我都会脚踏实地做完；第三，善于沟通，能和每一位同学耐心交流；第四，组织能力强，组织过周末志愿活动，也策划过运动会开幕式和风筝节；第五，创新思维，点子多、敢尝试；第六，经历丰富，大大小小的活动都有经验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理解的团总支，需要四种能力。协调性，协调辅助各支部，让党团建设活动顺畅落地；责任心，选择了这个职位，就有责任把它做好；调动性，调动大家的参与热情，凝聚团员的归属感；创新性，用新形式新平台，让团的声音真正融入日常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团总支主要有两大任务。一是开展活动，协调和辅助各支部做好党团建设，在活动中加强同学们的党团意识，为国为党培养优秀的接班人。二是培养责任感——团日活动会占用我们的空余时间，甚至学习时间，但既然选择了这个职位，我们就有责任把它开展好。选择了，就负责到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如果我有幸当选，我打算从四个方面开展工作：增强组织活力、深化服务意识、创新工作模式、强化团队建设。四项行动，一个方向——让团总支真正活起来、暖起来、新起来、强起来。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第一件事，增强组织活力。我会定期开展主题鲜明、形式丰富的团日活动，贴合大家的学习节奏和兴趣特点，比如红色研学、主题宣讲、志愿服务，充分调动大家的参与热情，让每一位团员都有归属感。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第二件事，深化服务意识。我会搭建团员的意见反馈渠道，认真倾听大家在学习和生活中的需求，及时把大家的心声传递上去，当好老师与同学之间的桥梁纽带，协助解决实际问题，把服务做到同学们的心坎上。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第三件事，创新工作模式。我会依托班级群和校园新媒体，宣传团务知识、展示团员风采、推送正能量内容，打造一个便捷高效的线上团学阵地，让团的声音融入大家的日常校园生活。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第四件事，强化团队建设。我会定期组织团干部培训，提升整个团队的素质，让每一位团干部都能独当一面、扛得起任务，在团总支里营造团结协作、积极向上的工作氛围。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最后我想说，团总支书记不仅是一份荣誉，更是一份沉甸甸的责任。如果当选，我会认真履职、开放倾听、与大家携手同行，不辜负老师和同学们的期望。请投我一票，谢谢大家。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团支书竞选P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团支书竞选P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2c9f26f6973f013.jpg"/>
  <Relationship Id="rId3" Type="http://schemas.openxmlformats.org/officeDocument/2006/relationships/image" Target="../media/image_6c20aba6750a0cce.jpg"/>
  <Relationship Id="rId4" Type="http://schemas.openxmlformats.org/officeDocument/2006/relationships/image" Target="../media/image_78717e174ac3f27a.jpg"/>
  <Relationship Id="rId5" Type="http://schemas.openxmlformats.org/officeDocument/2006/relationships/image" Target="../media/image_86663f6dea4ee115.jpg"/>
  <Relationship Id="rId6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2228850" y="-2152650"/>
            <a:ext cx="15430500" cy="9677400"/>
            <a:chOff x="-2228850" y="-2152650"/>
            <a:chExt cx="15430500" cy="9677400"/>
          </a:xfrm>
        </p:grpSpPr>
        <p:sp>
          <p:nvSpPr>
            <p:cNvPr id="2" name="Ellipse 2"/>
            <p:cNvSpPr/>
            <p:nvPr/>
          </p:nvSpPr>
          <p:spPr>
            <a:xfrm>
              <a:off x="-2228850" y="-2152650"/>
              <a:ext cx="6286500" cy="628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-1600200" y="-1524000"/>
              <a:ext cx="5029200" cy="5029200"/>
            </a:xfrm>
            <a:prstGeom prst="ellipse">
              <a:avLst/>
            </a:prstGeom>
            <a:noFill/>
            <a:ln w="57150">
              <a:solidFill>
                <a:schemeClr val="accent2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963150" y="4286250"/>
              <a:ext cx="3238500" cy="3238500"/>
            </a:xfrm>
            <a:prstGeom prst="ellipse">
              <a:avLst/>
            </a:prstGeom>
            <a:noFill/>
            <a:ln w="95250">
              <a:solidFill>
                <a:schemeClr val="accent1"/>
              </a:solidFill>
            </a:ln>
          </p:spPr>
        </p:sp>
        <p:sp>
          <p:nvSpPr>
            <p:cNvPr id="5" name="Polygon 5"/>
            <p:cNvSpPr/>
            <p:nvPr/>
          </p:nvSpPr>
          <p:spPr>
            <a:xfrm>
              <a:off x="9067800" y="914400"/>
              <a:ext cx="2590800" cy="2514600"/>
            </a:xfrm>
            <a:custGeom>
              <a:avLst/>
              <a:gdLst/>
              <a:ahLst/>
              <a:cxnLst/>
              <a:rect l="l" t="t" r="r" b="b"/>
              <a:pathLst>
                <a:path w="2590800" h="2514600">
                  <a:moveTo>
                    <a:pt x="1295400" y="0"/>
                  </a:moveTo>
                  <a:lnTo>
                    <a:pt x="1657350" y="857250"/>
                  </a:lnTo>
                  <a:lnTo>
                    <a:pt x="2590800" y="952500"/>
                  </a:lnTo>
                  <a:lnTo>
                    <a:pt x="1905000" y="1600200"/>
                  </a:lnTo>
                  <a:lnTo>
                    <a:pt x="2095500" y="2514600"/>
                  </a:lnTo>
                  <a:lnTo>
                    <a:pt x="1295400" y="2038350"/>
                  </a:lnTo>
                  <a:lnTo>
                    <a:pt x="495300" y="2514600"/>
                  </a:lnTo>
                  <a:lnTo>
                    <a:pt x="685800" y="1600200"/>
                  </a:lnTo>
                  <a:lnTo>
                    <a:pt x="0" y="952500"/>
                  </a:lnTo>
                  <a:lnTo>
                    <a:pt x="933450" y="8572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 rot="720000">
              <a:off x="609600" y="5524500"/>
              <a:ext cx="609600" cy="60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280920" y="955716"/>
              <a:ext cx="412173" cy="391969"/>
            </a:xfrm>
            <a:custGeom>
              <a:avLst/>
              <a:gdLst/>
              <a:ahLst/>
              <a:cxnLst/>
              <a:rect l="l" t="t" r="r" b="b"/>
              <a:pathLst>
                <a:path w="412173" h="391969">
                  <a:moveTo>
                    <a:pt x="206231" y="325000"/>
                  </a:moveTo>
                  <a:lnTo>
                    <a:pt x="78856" y="391969"/>
                  </a:lnTo>
                  <a:lnTo>
                    <a:pt x="103188" y="250127"/>
                  </a:lnTo>
                  <a:lnTo>
                    <a:pt x="0" y="149684"/>
                  </a:lnTo>
                  <a:lnTo>
                    <a:pt x="142399" y="129046"/>
                  </a:lnTo>
                  <a:lnTo>
                    <a:pt x="206086" y="0"/>
                  </a:lnTo>
                  <a:lnTo>
                    <a:pt x="269774" y="129046"/>
                  </a:lnTo>
                  <a:lnTo>
                    <a:pt x="412173" y="149684"/>
                  </a:lnTo>
                  <a:lnTo>
                    <a:pt x="308985" y="250127"/>
                  </a:lnTo>
                  <a:lnTo>
                    <a:pt x="333317" y="391969"/>
                  </a:lnTo>
                  <a:lnTo>
                    <a:pt x="206231" y="325000"/>
                  </a:lnTo>
                </a:path>
              </a:pathLst>
            </a:custGeom>
            <a:noFill/>
            <a:ln w="41275">
              <a:solidFill>
                <a:schemeClr val="accent2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355961" y="5918232"/>
              <a:ext cx="317056" cy="301514"/>
            </a:xfrm>
            <a:custGeom>
              <a:avLst/>
              <a:gdLst/>
              <a:ahLst/>
              <a:cxnLst/>
              <a:rect l="l" t="t" r="r" b="b"/>
              <a:pathLst>
                <a:path w="317056" h="301514">
                  <a:moveTo>
                    <a:pt x="158639" y="250000"/>
                  </a:moveTo>
                  <a:lnTo>
                    <a:pt x="60658" y="301514"/>
                  </a:lnTo>
                  <a:lnTo>
                    <a:pt x="79375" y="192405"/>
                  </a:lnTo>
                  <a:lnTo>
                    <a:pt x="0" y="115142"/>
                  </a:lnTo>
                  <a:lnTo>
                    <a:pt x="109538" y="99267"/>
                  </a:lnTo>
                  <a:lnTo>
                    <a:pt x="158528" y="0"/>
                  </a:lnTo>
                  <a:lnTo>
                    <a:pt x="207518" y="99267"/>
                  </a:lnTo>
                  <a:lnTo>
                    <a:pt x="317056" y="115142"/>
                  </a:lnTo>
                  <a:lnTo>
                    <a:pt x="237681" y="192405"/>
                  </a:lnTo>
                  <a:lnTo>
                    <a:pt x="256398" y="301514"/>
                  </a:lnTo>
                  <a:lnTo>
                    <a:pt x="158639" y="250000"/>
                  </a:lnTo>
                </a:path>
              </a:pathLst>
            </a:custGeom>
            <a:noFill/>
            <a:ln w="31750">
              <a:solidFill>
                <a:schemeClr val="accent1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14400" y="1949494"/>
            <a:ext cx="5126736" cy="3121616"/>
            <a:chOff x="914400" y="1949494"/>
            <a:chExt cx="5126736" cy="3121616"/>
          </a:xfrm>
        </p:grpSpPr>
        <p:sp>
          <p:nvSpPr>
            <p:cNvPr id="10" name="Freeform 10"/>
            <p:cNvSpPr/>
            <p:nvPr/>
          </p:nvSpPr>
          <p:spPr>
            <a:xfrm>
              <a:off x="978056" y="1949494"/>
              <a:ext cx="443877" cy="422119"/>
            </a:xfrm>
            <a:custGeom>
              <a:avLst/>
              <a:gdLst/>
              <a:ahLst/>
              <a:cxnLst/>
              <a:rect l="l" t="t" r="r" b="b"/>
              <a:pathLst>
                <a:path w="443877" h="422119">
                  <a:moveTo>
                    <a:pt x="222094" y="349999"/>
                  </a:moveTo>
                  <a:lnTo>
                    <a:pt x="84922" y="422119"/>
                  </a:lnTo>
                  <a:lnTo>
                    <a:pt x="111125" y="269367"/>
                  </a:lnTo>
                  <a:lnTo>
                    <a:pt x="0" y="161198"/>
                  </a:lnTo>
                  <a:lnTo>
                    <a:pt x="153352" y="138973"/>
                  </a:lnTo>
                  <a:lnTo>
                    <a:pt x="221939" y="0"/>
                  </a:lnTo>
                  <a:lnTo>
                    <a:pt x="290525" y="138973"/>
                  </a:lnTo>
                  <a:lnTo>
                    <a:pt x="443877" y="161198"/>
                  </a:lnTo>
                  <a:lnTo>
                    <a:pt x="332752" y="269367"/>
                  </a:lnTo>
                  <a:lnTo>
                    <a:pt x="358955" y="422119"/>
                  </a:lnTo>
                  <a:lnTo>
                    <a:pt x="222094" y="349999"/>
                  </a:lnTo>
                </a:path>
              </a:pathLst>
            </a:custGeom>
            <a:noFill/>
            <a:ln w="444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14400" y="2575560"/>
              <a:ext cx="207355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竞选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4400" y="3680460"/>
              <a:ext cx="5126736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团总支书记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02208" y="5295900"/>
            <a:ext cx="7132320" cy="1262634"/>
            <a:chOff x="902208" y="5295900"/>
            <a:chExt cx="7132320" cy="1262634"/>
          </a:xfrm>
        </p:grpSpPr>
        <p:sp>
          <p:nvSpPr>
            <p:cNvPr id="14" name="Rectangle 14"/>
            <p:cNvSpPr/>
            <p:nvPr/>
          </p:nvSpPr>
          <p:spPr>
            <a:xfrm>
              <a:off x="914400" y="5295900"/>
              <a:ext cx="83820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2208" y="5646420"/>
              <a:ext cx="7132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带着热情与责任而来，与全体团员青年携手同行。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5256" y="6206490"/>
              <a:ext cx="32653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杨伊琳 · 高一57班 · 共青团员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963656" y="63588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01 / 12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908161" y="-285750"/>
            <a:ext cx="12102989" cy="6715046"/>
            <a:chOff x="908161" y="-285750"/>
            <a:chExt cx="12102989" cy="6715046"/>
          </a:xfrm>
        </p:grpSpPr>
        <p:sp>
          <p:nvSpPr>
            <p:cNvPr id="2" name="Ellipse 2"/>
            <p:cNvSpPr/>
            <p:nvPr/>
          </p:nvSpPr>
          <p:spPr>
            <a:xfrm>
              <a:off x="10153650" y="-285750"/>
              <a:ext cx="2857500" cy="2857500"/>
            </a:xfrm>
            <a:prstGeom prst="ellipse">
              <a:avLst/>
            </a:prstGeom>
            <a:noFill/>
            <a:ln w="95250">
              <a:solidFill>
                <a:schemeClr val="accent1"/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908161" y="6127782"/>
              <a:ext cx="317056" cy="301514"/>
            </a:xfrm>
            <a:custGeom>
              <a:avLst/>
              <a:gdLst/>
              <a:ahLst/>
              <a:cxnLst/>
              <a:rect l="l" t="t" r="r" b="b"/>
              <a:pathLst>
                <a:path w="317056" h="301514">
                  <a:moveTo>
                    <a:pt x="158639" y="250000"/>
                  </a:moveTo>
                  <a:lnTo>
                    <a:pt x="60658" y="301514"/>
                  </a:lnTo>
                  <a:lnTo>
                    <a:pt x="79375" y="192405"/>
                  </a:lnTo>
                  <a:lnTo>
                    <a:pt x="0" y="115142"/>
                  </a:lnTo>
                  <a:lnTo>
                    <a:pt x="109538" y="99267"/>
                  </a:lnTo>
                  <a:lnTo>
                    <a:pt x="158528" y="0"/>
                  </a:lnTo>
                  <a:lnTo>
                    <a:pt x="207518" y="99267"/>
                  </a:lnTo>
                  <a:lnTo>
                    <a:pt x="317056" y="115142"/>
                  </a:lnTo>
                  <a:lnTo>
                    <a:pt x="237681" y="192405"/>
                  </a:lnTo>
                  <a:lnTo>
                    <a:pt x="256398" y="301514"/>
                  </a:lnTo>
                  <a:lnTo>
                    <a:pt x="158639" y="250000"/>
                  </a:ln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 rot="840000">
              <a:off x="11430000" y="5715000"/>
              <a:ext cx="4572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95350" y="1752638"/>
            <a:ext cx="3420618" cy="3700996"/>
            <a:chOff x="895350" y="1752638"/>
            <a:chExt cx="3420618" cy="3700996"/>
          </a:xfrm>
        </p:grpSpPr>
        <p:sp>
          <p:nvSpPr>
            <p:cNvPr id="6" name="Freeform 6"/>
            <p:cNvSpPr/>
            <p:nvPr/>
          </p:nvSpPr>
          <p:spPr>
            <a:xfrm>
              <a:off x="952633" y="1752638"/>
              <a:ext cx="380467" cy="361817"/>
            </a:xfrm>
            <a:custGeom>
              <a:avLst/>
              <a:gdLst/>
              <a:ahLst/>
              <a:cxnLst/>
              <a:rect l="l" t="t" r="r" b="b"/>
              <a:pathLst>
                <a:path w="380467" h="361817">
                  <a:moveTo>
                    <a:pt x="190367" y="299999"/>
                  </a:moveTo>
                  <a:lnTo>
                    <a:pt x="72790" y="361817"/>
                  </a:lnTo>
                  <a:lnTo>
                    <a:pt x="95250" y="230886"/>
                  </a:lnTo>
                  <a:lnTo>
                    <a:pt x="0" y="138170"/>
                  </a:lnTo>
                  <a:lnTo>
                    <a:pt x="131445" y="119120"/>
                  </a:lnTo>
                  <a:lnTo>
                    <a:pt x="190233" y="0"/>
                  </a:lnTo>
                  <a:lnTo>
                    <a:pt x="249022" y="119120"/>
                  </a:lnTo>
                  <a:lnTo>
                    <a:pt x="380467" y="138170"/>
                  </a:lnTo>
                  <a:lnTo>
                    <a:pt x="285217" y="230886"/>
                  </a:lnTo>
                  <a:lnTo>
                    <a:pt x="307677" y="361817"/>
                  </a:lnTo>
                  <a:lnTo>
                    <a:pt x="190367" y="299999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95350" y="2270760"/>
              <a:ext cx="3091282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杨伊琳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3314700"/>
              <a:ext cx="152400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2208" y="3741420"/>
              <a:ext cx="231830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班级　高一57班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2208" y="421767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政治面貌　共青团员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5256" y="51015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一名在团务一线干实事的高一生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0" y="1428750"/>
            <a:ext cx="5334000" cy="887539"/>
            <a:chOff x="6096000" y="1428750"/>
            <a:chExt cx="5334000" cy="887539"/>
          </a:xfrm>
        </p:grpSpPr>
        <p:sp>
          <p:nvSpPr>
            <p:cNvPr id="13" name="Rectangle 13"/>
            <p:cNvSpPr/>
            <p:nvPr/>
          </p:nvSpPr>
          <p:spPr>
            <a:xfrm>
              <a:off x="6096000" y="1428750"/>
              <a:ext cx="5334000" cy="876300"/>
            </a:xfrm>
            <a:prstGeom prst="roundRect">
              <a:avLst>
                <a:gd name="adj" fmla="val 2173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20612" y="15354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50608" y="1607820"/>
              <a:ext cx="34676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班长 · 团支部组织委员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54418" y="19935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班级与支部双肩挑，日常团务了然于心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0" y="2495550"/>
            <a:ext cx="5334000" cy="887539"/>
            <a:chOff x="6096000" y="2495550"/>
            <a:chExt cx="5334000" cy="887539"/>
          </a:xfrm>
        </p:grpSpPr>
        <p:sp>
          <p:nvSpPr>
            <p:cNvPr id="18" name="Rectangle 18"/>
            <p:cNvSpPr/>
            <p:nvPr/>
          </p:nvSpPr>
          <p:spPr>
            <a:xfrm>
              <a:off x="6096000" y="2495550"/>
              <a:ext cx="5334000" cy="876300"/>
            </a:xfrm>
            <a:prstGeom prst="roundRect">
              <a:avLst>
                <a:gd name="adj" fmla="val 2173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20612" y="26022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50608" y="267462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团总支高一负责人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54418" y="30603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统筹高一年级团总支的各项工作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0" y="3562350"/>
            <a:ext cx="5334000" cy="887539"/>
            <a:chOff x="6096000" y="3562350"/>
            <a:chExt cx="5334000" cy="887539"/>
          </a:xfrm>
        </p:grpSpPr>
        <p:sp>
          <p:nvSpPr>
            <p:cNvPr id="23" name="Rectangle 23"/>
            <p:cNvSpPr/>
            <p:nvPr/>
          </p:nvSpPr>
          <p:spPr>
            <a:xfrm>
              <a:off x="6096000" y="3562350"/>
              <a:ext cx="5334000" cy="876300"/>
            </a:xfrm>
            <a:prstGeom prst="roundRect">
              <a:avLst>
                <a:gd name="adj" fmla="val 2173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20612" y="36690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50608" y="374142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艺言艺语社高一负责人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54418" y="4127182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语言表达与舞台主持，敢上台能控场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0" y="4629150"/>
            <a:ext cx="5334000" cy="887539"/>
            <a:chOff x="6096000" y="4629150"/>
            <a:chExt cx="5334000" cy="887539"/>
          </a:xfrm>
        </p:grpSpPr>
        <p:sp>
          <p:nvSpPr>
            <p:cNvPr id="28" name="Rectangle 28"/>
            <p:cNvSpPr/>
            <p:nvPr/>
          </p:nvSpPr>
          <p:spPr>
            <a:xfrm>
              <a:off x="6096000" y="4629150"/>
              <a:ext cx="5334000" cy="876300"/>
            </a:xfrm>
            <a:prstGeom prst="roundRect">
              <a:avLst>
                <a:gd name="adj" fmla="val 2173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20612" y="47358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50608" y="48082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时政社成员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54418" y="519398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+mn-lt"/>
                  <a:ea typeface="+mn-ea"/>
                  <a:cs typeface="+mn-cs"/>
                </a:rPr>
                <a:t>关心时事政治，思想积极要求上进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963656" y="63588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02 / 12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4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xmlns:p="http://schemas.openxmlformats.org/presentationml/2006/main" id="1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50"/>
                            </p:stCondLst>
                            <p:childTnLst>
                              <p:par>
                                <p:cTn xmlns:p="http://schemas.openxmlformats.org/presentationml/2006/main" id="24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04850" y="1631982"/>
            <a:ext cx="11226467" cy="4864068"/>
            <a:chOff x="704850" y="1631982"/>
            <a:chExt cx="11226467" cy="4864068"/>
          </a:xfrm>
        </p:grpSpPr>
        <p:sp>
          <p:nvSpPr>
            <p:cNvPr id="2" name="Freeform 2"/>
            <p:cNvSpPr/>
            <p:nvPr/>
          </p:nvSpPr>
          <p:spPr>
            <a:xfrm>
              <a:off x="11614261" y="1631982"/>
              <a:ext cx="317056" cy="301514"/>
            </a:xfrm>
            <a:custGeom>
              <a:avLst/>
              <a:gdLst/>
              <a:ahLst/>
              <a:cxnLst/>
              <a:rect l="l" t="t" r="r" b="b"/>
              <a:pathLst>
                <a:path w="317056" h="301514">
                  <a:moveTo>
                    <a:pt x="158639" y="250000"/>
                  </a:moveTo>
                  <a:lnTo>
                    <a:pt x="60658" y="301514"/>
                  </a:lnTo>
                  <a:lnTo>
                    <a:pt x="79375" y="192405"/>
                  </a:lnTo>
                  <a:lnTo>
                    <a:pt x="0" y="115142"/>
                  </a:lnTo>
                  <a:lnTo>
                    <a:pt x="109538" y="99267"/>
                  </a:lnTo>
                  <a:lnTo>
                    <a:pt x="158528" y="0"/>
                  </a:lnTo>
                  <a:lnTo>
                    <a:pt x="207518" y="99267"/>
                  </a:lnTo>
                  <a:lnTo>
                    <a:pt x="317056" y="115142"/>
                  </a:lnTo>
                  <a:lnTo>
                    <a:pt x="237681" y="192405"/>
                  </a:lnTo>
                  <a:lnTo>
                    <a:pt x="256398" y="301514"/>
                  </a:lnTo>
                  <a:lnTo>
                    <a:pt x="158639" y="250000"/>
                  </a:ln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704850" y="5619750"/>
              <a:ext cx="876300" cy="876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95350" y="1470660"/>
            <a:ext cx="2073554" cy="1390650"/>
            <a:chOff x="895350" y="1470660"/>
            <a:chExt cx="2073554" cy="139065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1470660"/>
              <a:ext cx="207355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历练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" y="2476500"/>
              <a:ext cx="1524000" cy="952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751561" y="3215640"/>
            <a:ext cx="10688879" cy="1043749"/>
            <a:chOff x="751561" y="3215640"/>
            <a:chExt cx="10688879" cy="1043749"/>
          </a:xfrm>
        </p:grpSpPr>
        <p:sp>
          <p:nvSpPr>
            <p:cNvPr id="8" name="Line 8"/>
            <p:cNvSpPr/>
            <p:nvPr/>
          </p:nvSpPr>
          <p:spPr>
            <a:xfrm>
              <a:off x="1524000" y="36195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51561" y="3215640"/>
              <a:ext cx="1544879" cy="1043749"/>
              <a:chOff x="751561" y="3215640"/>
              <a:chExt cx="1544879" cy="1043749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400175" y="3495675"/>
                <a:ext cx="247650" cy="247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51561" y="321564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主持红色研学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60310" y="3936682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参与并主持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913126" y="3215640"/>
              <a:ext cx="1793748" cy="1043749"/>
              <a:chOff x="2913126" y="3215640"/>
              <a:chExt cx="1793748" cy="1043749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686175" y="3495675"/>
                <a:ext cx="247650" cy="24765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037561" y="321564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审核团员档案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913126" y="3936682"/>
                <a:ext cx="17937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高一年级团员档案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5088064" y="3215640"/>
              <a:ext cx="2015871" cy="1043749"/>
              <a:chOff x="5088064" y="3215640"/>
              <a:chExt cx="2015871" cy="1043749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5972175" y="3495675"/>
                <a:ext cx="247650" cy="24765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323561" y="321564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团员结业活动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088064" y="3936682"/>
                <a:ext cx="20158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主持高二、高三结业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7485126" y="3215640"/>
              <a:ext cx="1793748" cy="1043749"/>
              <a:chOff x="7485126" y="3215640"/>
              <a:chExt cx="1793748" cy="1043749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8258175" y="3495675"/>
                <a:ext cx="247650" cy="24765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09561" y="321564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参与团日活动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485126" y="3936682"/>
                <a:ext cx="17937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主题团日全程投入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895561" y="3215640"/>
              <a:ext cx="1544879" cy="1043749"/>
              <a:chOff x="9895561" y="3215640"/>
              <a:chExt cx="1544879" cy="1043749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10544175" y="3495675"/>
                <a:ext cx="247650" cy="24765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895561" y="321564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监考团课考试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993249" y="393668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团课考核把关</a:t>
                </a: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905256" y="5044440"/>
            <a:ext cx="2518440" cy="352044"/>
            <a:chOff x="905256" y="5044440"/>
            <a:chExt cx="2518440" cy="352044"/>
          </a:xfrm>
        </p:grpSpPr>
        <p:sp>
          <p:nvSpPr>
            <p:cNvPr id="30" name="TextBox 30"/>
            <p:cNvSpPr txBox="1"/>
            <p:nvPr/>
          </p:nvSpPr>
          <p:spPr>
            <a:xfrm>
              <a:off x="905256" y="5044440"/>
              <a:ext cx="25184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实拍佐证 · EVIDENCE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06018" y="5334000"/>
            <a:ext cx="2569464" cy="1409700"/>
            <a:chOff x="906018" y="5334000"/>
            <a:chExt cx="2569464" cy="1409700"/>
          </a:xfrm>
        </p:grpSpPr>
        <p:sp>
          <p:nvSpPr>
            <p:cNvPr id="32" name="Rectangle 32"/>
            <p:cNvSpPr/>
            <p:nvPr/>
          </p:nvSpPr>
          <p:spPr>
            <a:xfrm>
              <a:off x="914400" y="5334000"/>
              <a:ext cx="2552700" cy="1409700"/>
            </a:xfrm>
            <a:prstGeom prst="roundRect">
              <a:avLst>
                <a:gd name="adj" fmla="val 9459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rcRect l="0" t="12584" r="0" b="12583"/>
            <a:stretch>
              <a:fillRect/>
            </a:stretch>
          </p:blipFill>
          <p:spPr>
            <a:xfrm>
              <a:off x="914400" y="5334000"/>
              <a:ext cx="2552700" cy="1409700"/>
            </a:xfrm>
            <a:prstGeom prst="rect">
              <a:avLst/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906018" y="5422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监考报名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14472" y="54225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我来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687318" y="5334000"/>
            <a:ext cx="2569464" cy="1409700"/>
            <a:chOff x="3687318" y="5334000"/>
            <a:chExt cx="2569464" cy="1409700"/>
          </a:xfrm>
        </p:grpSpPr>
        <p:sp>
          <p:nvSpPr>
            <p:cNvPr id="37" name="Rectangle 37"/>
            <p:cNvSpPr/>
            <p:nvPr/>
          </p:nvSpPr>
          <p:spPr>
            <a:xfrm>
              <a:off x="3695700" y="5334000"/>
              <a:ext cx="2552700" cy="1409700"/>
            </a:xfrm>
            <a:prstGeom prst="roundRect">
              <a:avLst>
                <a:gd name="adj" fmla="val 9459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3"/>
            <a:srcRect l="0" t="5156" r="0" b="5157"/>
            <a:stretch>
              <a:fillRect/>
            </a:stretch>
          </p:blipFill>
          <p:spPr>
            <a:xfrm>
              <a:off x="3695700" y="5334000"/>
              <a:ext cx="2552700" cy="1409700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3687318" y="5422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会议通知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95772" y="54225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收到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468618" y="5334000"/>
            <a:ext cx="2569464" cy="1409700"/>
            <a:chOff x="6468618" y="5334000"/>
            <a:chExt cx="2569464" cy="1409700"/>
          </a:xfrm>
        </p:grpSpPr>
        <p:sp>
          <p:nvSpPr>
            <p:cNvPr id="42" name="Rectangle 42"/>
            <p:cNvSpPr/>
            <p:nvPr/>
          </p:nvSpPr>
          <p:spPr>
            <a:xfrm>
              <a:off x="6477000" y="5334000"/>
              <a:ext cx="2552700" cy="1409700"/>
            </a:xfrm>
            <a:prstGeom prst="roundRect">
              <a:avLst>
                <a:gd name="adj" fmla="val 9459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4"/>
            <a:srcRect l="0" t="29291" r="0" b="29291"/>
            <a:stretch>
              <a:fillRect/>
            </a:stretch>
          </p:blipFill>
          <p:spPr>
            <a:xfrm>
              <a:off x="6477000" y="5334000"/>
              <a:ext cx="2552700" cy="140970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6468618" y="5422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手绘海报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99642" y="5422582"/>
              <a:ext cx="12384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4·15 教育日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249918" y="5334000"/>
            <a:ext cx="2569464" cy="1409700"/>
            <a:chOff x="9249918" y="5334000"/>
            <a:chExt cx="2569464" cy="1409700"/>
          </a:xfrm>
        </p:grpSpPr>
        <p:sp>
          <p:nvSpPr>
            <p:cNvPr id="47" name="Rectangle 47"/>
            <p:cNvSpPr/>
            <p:nvPr/>
          </p:nvSpPr>
          <p:spPr>
            <a:xfrm>
              <a:off x="9258300" y="5334000"/>
              <a:ext cx="2552700" cy="1409700"/>
            </a:xfrm>
            <a:prstGeom prst="roundRect">
              <a:avLst>
                <a:gd name="adj" fmla="val 9459"/>
              </a:avLst>
            </a:prstGeom>
            <a:solidFill>
              <a:schemeClr val="accent1"/>
            </a:solidFill>
            <a:ln>
              <a:noFill/>
            </a:ln>
          </p:spPr>
        </p:sp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5"/>
            <a:srcRect l="0" t="10904" r="0" b="10903"/>
            <a:stretch>
              <a:fillRect/>
            </a:stretch>
          </p:blipFill>
          <p:spPr>
            <a:xfrm>
              <a:off x="9258300" y="5334000"/>
              <a:ext cx="2552700" cy="1409700"/>
            </a:xfrm>
            <a:prstGeom prst="rect">
              <a:avLst/>
            </a:prstGeom>
          </p:spPr>
        </p:pic>
        <p:sp>
          <p:nvSpPr>
            <p:cNvPr id="49" name="TextBox 49"/>
            <p:cNvSpPr txBox="1"/>
            <p:nvPr/>
          </p:nvSpPr>
          <p:spPr>
            <a:xfrm>
              <a:off x="9249918" y="5422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工时证明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914126" y="5422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团委盖章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0963656" y="63588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03 / 12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50"/>
                            </p:stCondLst>
                            <p:childTnLst>
                              <p:par>
                                <p:cTn xmlns:p="http://schemas.openxmlformats.org/presentationml/2006/main" id="17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950"/>
                            </p:stCondLst>
                            <p:childTnLst>
                              <p:par>
                                <p:cTn xmlns:p="http://schemas.openxmlformats.org/presentationml/2006/main" id="22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750"/>
                            </p:stCondLst>
                            <p:childTnLst>
                              <p:par>
                                <p:cTn xmlns:p="http://schemas.openxmlformats.org/presentationml/2006/main" id="27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50"/>
                            </p:stCondLst>
                            <p:childTnLst>
                              <p:par>
                                <p:cTn xmlns:p="http://schemas.openxmlformats.org/presentationml/2006/main" id="32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81175" y="1095404"/>
            <a:ext cx="11934725" cy="6143596"/>
            <a:chOff x="981175" y="1095404"/>
            <a:chExt cx="11934725" cy="6143596"/>
          </a:xfrm>
        </p:grpSpPr>
        <p:sp>
          <p:nvSpPr>
            <p:cNvPr id="2" name="Ellipse 2"/>
            <p:cNvSpPr/>
            <p:nvPr/>
          </p:nvSpPr>
          <p:spPr>
            <a:xfrm>
              <a:off x="10248900" y="4572000"/>
              <a:ext cx="2667000" cy="2667000"/>
            </a:xfrm>
            <a:prstGeom prst="ellipse">
              <a:avLst/>
            </a:prstGeom>
            <a:noFill/>
            <a:ln w="95250">
              <a:solidFill>
                <a:schemeClr val="accent2"/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981175" y="1095404"/>
              <a:ext cx="285350" cy="271362"/>
            </a:xfrm>
            <a:custGeom>
              <a:avLst/>
              <a:gdLst/>
              <a:ahLst/>
              <a:cxnLst/>
              <a:rect l="l" t="t" r="r" b="b"/>
              <a:pathLst>
                <a:path w="285350" h="271362">
                  <a:moveTo>
                    <a:pt x="142775" y="225000"/>
                  </a:moveTo>
                  <a:lnTo>
                    <a:pt x="54593" y="271362"/>
                  </a:lnTo>
                  <a:lnTo>
                    <a:pt x="71438" y="173164"/>
                  </a:lnTo>
                  <a:lnTo>
                    <a:pt x="0" y="103627"/>
                  </a:lnTo>
                  <a:lnTo>
                    <a:pt x="98584" y="89340"/>
                  </a:lnTo>
                  <a:lnTo>
                    <a:pt x="142675" y="0"/>
                  </a:lnTo>
                  <a:lnTo>
                    <a:pt x="186766" y="89340"/>
                  </a:lnTo>
                  <a:lnTo>
                    <a:pt x="285350" y="103627"/>
                  </a:lnTo>
                  <a:lnTo>
                    <a:pt x="213912" y="173164"/>
                  </a:lnTo>
                  <a:lnTo>
                    <a:pt x="230757" y="271362"/>
                  </a:lnTo>
                  <a:lnTo>
                    <a:pt x="142775" y="2250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95350" y="1470660"/>
            <a:ext cx="2940558" cy="1390650"/>
            <a:chOff x="895350" y="1470660"/>
            <a:chExt cx="2940558" cy="139065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1470660"/>
              <a:ext cx="207355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优势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" y="2476500"/>
              <a:ext cx="152400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848356" y="20726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六项底气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" y="2857500"/>
            <a:ext cx="3429000" cy="1333500"/>
            <a:chOff x="914400" y="2857500"/>
            <a:chExt cx="3429000" cy="1333500"/>
          </a:xfrm>
        </p:grpSpPr>
        <p:sp>
          <p:nvSpPr>
            <p:cNvPr id="9" name="Rectangle 9"/>
            <p:cNvSpPr/>
            <p:nvPr/>
          </p:nvSpPr>
          <p:spPr>
            <a:xfrm>
              <a:off x="914400" y="2857500"/>
              <a:ext cx="3429000" cy="1333500"/>
            </a:xfrm>
            <a:prstGeom prst="roundRect">
              <a:avLst>
                <a:gd name="adj" fmla="val 1428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214438" y="3152775"/>
              <a:ext cx="200025" cy="271462"/>
            </a:xfrm>
            <a:custGeom>
              <a:avLst/>
              <a:gdLst/>
              <a:ahLst/>
              <a:cxnLst/>
              <a:rect l="l" t="t" r="r" b="b"/>
              <a:pathLst>
                <a:path w="200025" h="271462">
                  <a:moveTo>
                    <a:pt x="100012" y="127745"/>
                  </a:moveTo>
                  <a:cubicBezTo>
                    <a:pt x="133345" y="80481"/>
                    <a:pt x="102399" y="15973"/>
                    <a:pt x="85725" y="0"/>
                  </a:cubicBezTo>
                  <a:cubicBezTo>
                    <a:pt x="85725" y="48506"/>
                    <a:pt x="53792" y="75709"/>
                    <a:pt x="33333" y="95812"/>
                  </a:cubicBezTo>
                  <a:cubicBezTo>
                    <a:pt x="12902" y="115929"/>
                    <a:pt x="0" y="142875"/>
                    <a:pt x="0" y="175651"/>
                  </a:cubicBezTo>
                  <a:cubicBezTo>
                    <a:pt x="0" y="228571"/>
                    <a:pt x="44777" y="271462"/>
                    <a:pt x="100012" y="271462"/>
                  </a:cubicBezTo>
                  <a:cubicBezTo>
                    <a:pt x="155248" y="271462"/>
                    <a:pt x="200025" y="228571"/>
                    <a:pt x="200025" y="175651"/>
                  </a:cubicBezTo>
                  <a:cubicBezTo>
                    <a:pt x="200025" y="151190"/>
                    <a:pt x="182423" y="112743"/>
                    <a:pt x="166692" y="95812"/>
                  </a:cubicBezTo>
                  <a:cubicBezTo>
                    <a:pt x="136917" y="143718"/>
                    <a:pt x="120158" y="143718"/>
                    <a:pt x="100012" y="127745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823983" y="315563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0808" y="34747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工作热情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4618" y="38604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积极报名团总支各项工作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648200" y="2857500"/>
            <a:ext cx="3429000" cy="1333500"/>
            <a:chOff x="4648200" y="2857500"/>
            <a:chExt cx="3429000" cy="1333500"/>
          </a:xfrm>
        </p:grpSpPr>
        <p:sp>
          <p:nvSpPr>
            <p:cNvPr id="15" name="Rectangle 15"/>
            <p:cNvSpPr/>
            <p:nvPr/>
          </p:nvSpPr>
          <p:spPr>
            <a:xfrm>
              <a:off x="4648200" y="2857500"/>
              <a:ext cx="3429000" cy="1333500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4900381" y="3167062"/>
              <a:ext cx="279010" cy="257176"/>
              <a:chOff x="4900381" y="3167062"/>
              <a:chExt cx="279010" cy="25717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900381" y="316706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091112" y="33670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7557783" y="315563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64608" y="34747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责任心强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68418" y="38604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+mn-lt"/>
                  <a:ea typeface="+mn-ea"/>
                  <a:cs typeface="+mn-cs"/>
                </a:rPr>
                <a:t>脚踏实地做好每一份工作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382000" y="2857500"/>
            <a:ext cx="3429000" cy="1333500"/>
            <a:chOff x="8382000" y="2857500"/>
            <a:chExt cx="3429000" cy="1333500"/>
          </a:xfrm>
        </p:grpSpPr>
        <p:sp>
          <p:nvSpPr>
            <p:cNvPr id="23" name="Rectangle 23"/>
            <p:cNvSpPr/>
            <p:nvPr/>
          </p:nvSpPr>
          <p:spPr>
            <a:xfrm>
              <a:off x="8382000" y="2857500"/>
              <a:ext cx="3429000" cy="1333500"/>
            </a:xfrm>
            <a:prstGeom prst="roundRect">
              <a:avLst>
                <a:gd name="adj" fmla="val 1428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8638832" y="3170277"/>
              <a:ext cx="285236" cy="252846"/>
            </a:xfrm>
            <a:custGeom>
              <a:avLst/>
              <a:gdLst/>
              <a:ahLst/>
              <a:cxnLst/>
              <a:rect l="l" t="t" r="r" b="b"/>
              <a:pathLst>
                <a:path w="285236" h="252846">
                  <a:moveTo>
                    <a:pt x="14630" y="239673"/>
                  </a:moveTo>
                  <a:lnTo>
                    <a:pt x="33204" y="183952"/>
                  </a:lnTo>
                  <a:cubicBezTo>
                    <a:pt x="0" y="134845"/>
                    <a:pt x="12830" y="71480"/>
                    <a:pt x="63208" y="35733"/>
                  </a:cubicBezTo>
                  <a:cubicBezTo>
                    <a:pt x="113586" y="0"/>
                    <a:pt x="185938" y="2929"/>
                    <a:pt x="232443" y="42591"/>
                  </a:cubicBezTo>
                  <a:cubicBezTo>
                    <a:pt x="278949" y="82267"/>
                    <a:pt x="285236" y="146404"/>
                    <a:pt x="247145" y="192624"/>
                  </a:cubicBezTo>
                  <a:cubicBezTo>
                    <a:pt x="209055" y="238844"/>
                    <a:pt x="138346" y="252846"/>
                    <a:pt x="81782" y="225385"/>
                  </a:cubicBezTo>
                  <a:lnTo>
                    <a:pt x="14630" y="239673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291583" y="315563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98408" y="34747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善于沟通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2218" y="38604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热情耐心与每一位同学交流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14400" y="4591050"/>
            <a:ext cx="3429000" cy="1333500"/>
            <a:chOff x="914400" y="4591050"/>
            <a:chExt cx="3429000" cy="1333500"/>
          </a:xfrm>
        </p:grpSpPr>
        <p:sp>
          <p:nvSpPr>
            <p:cNvPr id="29" name="Rectangle 29"/>
            <p:cNvSpPr/>
            <p:nvPr/>
          </p:nvSpPr>
          <p:spPr>
            <a:xfrm>
              <a:off x="914400" y="4591050"/>
              <a:ext cx="3429000" cy="1333500"/>
            </a:xfrm>
            <a:prstGeom prst="roundRect">
              <a:avLst>
                <a:gd name="adj" fmla="val 14286"/>
              </a:avLst>
            </a:prstGeom>
            <a:solidFill>
              <a:schemeClr val="accent5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185862" y="4900612"/>
              <a:ext cx="257175" cy="271463"/>
              <a:chOff x="1185862" y="4900612"/>
              <a:chExt cx="257175" cy="27146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228725" y="4900612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314450" y="4900612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0" y="0"/>
                    </a:moveTo>
                    <a:cubicBezTo>
                      <a:pt x="19045" y="4758"/>
                      <a:pt x="28575" y="33333"/>
                      <a:pt x="28575" y="85725"/>
                    </a:cubicBezTo>
                    <a:cubicBezTo>
                      <a:pt x="28575" y="138117"/>
                      <a:pt x="19045" y="166692"/>
                      <a:pt x="0" y="17145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285875" y="4900612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28575" y="0"/>
                    </a:moveTo>
                    <a:cubicBezTo>
                      <a:pt x="9530" y="4758"/>
                      <a:pt x="0" y="33333"/>
                      <a:pt x="0" y="85725"/>
                    </a:cubicBezTo>
                    <a:cubicBezTo>
                      <a:pt x="0" y="138117"/>
                      <a:pt x="9530" y="166692"/>
                      <a:pt x="28575" y="17145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228725" y="4986338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85862" y="5143500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343025" y="5143500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285875" y="51149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314450" y="5072062"/>
                <a:ext cx="95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2862">
                    <a:moveTo>
                      <a:pt x="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3823983" y="488918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0808" y="52082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组织能力强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34618" y="5594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策划运动会开幕式、风筝节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648200" y="4591050"/>
            <a:ext cx="3429000" cy="1333500"/>
            <a:chOff x="4648200" y="4591050"/>
            <a:chExt cx="3429000" cy="1333500"/>
          </a:xfrm>
        </p:grpSpPr>
        <p:sp>
          <p:nvSpPr>
            <p:cNvPr id="43" name="Rectangle 43"/>
            <p:cNvSpPr/>
            <p:nvPr/>
          </p:nvSpPr>
          <p:spPr>
            <a:xfrm>
              <a:off x="4648200" y="4591050"/>
              <a:ext cx="3429000" cy="1333500"/>
            </a:xfrm>
            <a:prstGeom prst="roundRect">
              <a:avLst>
                <a:gd name="adj" fmla="val 14286"/>
              </a:avLst>
            </a:prstGeom>
            <a:solidFill>
              <a:schemeClr val="accent5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919662" y="4900612"/>
              <a:ext cx="257175" cy="257175"/>
              <a:chOff x="4919662" y="4900612"/>
              <a:chExt cx="257175" cy="25717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919662" y="4900612"/>
                <a:ext cx="257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28588">
                    <a:moveTo>
                      <a:pt x="0" y="128588"/>
                    </a:moveTo>
                    <a:lnTo>
                      <a:pt x="14288" y="128588"/>
                    </a:lnTo>
                    <a:moveTo>
                      <a:pt x="128588" y="0"/>
                    </a:moveTo>
                    <a:lnTo>
                      <a:pt x="128588" y="14288"/>
                    </a:lnTo>
                    <a:moveTo>
                      <a:pt x="242888" y="128588"/>
                    </a:moveTo>
                    <a:lnTo>
                      <a:pt x="257175" y="128588"/>
                    </a:lnTo>
                    <a:moveTo>
                      <a:pt x="37147" y="37147"/>
                    </a:moveTo>
                    <a:lnTo>
                      <a:pt x="47149" y="47149"/>
                    </a:lnTo>
                    <a:moveTo>
                      <a:pt x="220028" y="37147"/>
                    </a:moveTo>
                    <a:lnTo>
                      <a:pt x="210026" y="47149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970755" y="4957762"/>
                <a:ext cx="15499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54990" h="200025">
                    <a:moveTo>
                      <a:pt x="34633" y="128588"/>
                    </a:moveTo>
                    <a:cubicBezTo>
                      <a:pt x="10034" y="110138"/>
                      <a:pt x="0" y="78018"/>
                      <a:pt x="9724" y="48847"/>
                    </a:cubicBezTo>
                    <a:cubicBezTo>
                      <a:pt x="19447" y="19676"/>
                      <a:pt x="46746" y="0"/>
                      <a:pt x="77495" y="0"/>
                    </a:cubicBezTo>
                    <a:cubicBezTo>
                      <a:pt x="108244" y="0"/>
                      <a:pt x="135543" y="19676"/>
                      <a:pt x="145267" y="48847"/>
                    </a:cubicBezTo>
                    <a:cubicBezTo>
                      <a:pt x="154990" y="78018"/>
                      <a:pt x="144957" y="110138"/>
                      <a:pt x="120358" y="128588"/>
                    </a:cubicBezTo>
                    <a:cubicBezTo>
                      <a:pt x="109044" y="139786"/>
                      <a:pt x="103739" y="155703"/>
                      <a:pt x="106070" y="171450"/>
                    </a:cubicBezTo>
                    <a:cubicBezTo>
                      <a:pt x="106070" y="187232"/>
                      <a:pt x="93277" y="200025"/>
                      <a:pt x="77495" y="200025"/>
                    </a:cubicBezTo>
                    <a:cubicBezTo>
                      <a:pt x="61714" y="200025"/>
                      <a:pt x="48920" y="187232"/>
                      <a:pt x="48920" y="171450"/>
                    </a:cubicBezTo>
                    <a:cubicBezTo>
                      <a:pt x="51252" y="155703"/>
                      <a:pt x="45946" y="139786"/>
                      <a:pt x="34633" y="1285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015389" y="5100638"/>
                <a:ext cx="6572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723" h="9525">
                    <a:moveTo>
                      <a:pt x="0" y="0"/>
                    </a:moveTo>
                    <a:lnTo>
                      <a:pt x="65723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557783" y="488918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864608" y="52082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创新思维佳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868418" y="5594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想象力丰富，敢想敢试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382000" y="4591050"/>
            <a:ext cx="3429000" cy="1333500"/>
            <a:chOff x="8382000" y="4591050"/>
            <a:chExt cx="3429000" cy="1333500"/>
          </a:xfrm>
        </p:grpSpPr>
        <p:sp>
          <p:nvSpPr>
            <p:cNvPr id="52" name="Rectangle 52"/>
            <p:cNvSpPr/>
            <p:nvPr/>
          </p:nvSpPr>
          <p:spPr>
            <a:xfrm>
              <a:off x="8382000" y="4591050"/>
              <a:ext cx="3429000" cy="1333500"/>
            </a:xfrm>
            <a:prstGeom prst="roundRect">
              <a:avLst>
                <a:gd name="adj" fmla="val 14286"/>
              </a:avLst>
            </a:prstGeom>
            <a:solidFill>
              <a:schemeClr val="accent5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8717756" y="4914900"/>
              <a:ext cx="128588" cy="228600"/>
              <a:chOff x="8717756" y="4914900"/>
              <a:chExt cx="128588" cy="2286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724900" y="4914900"/>
                <a:ext cx="1143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5725">
                    <a:moveTo>
                      <a:pt x="57150" y="0"/>
                    </a:moveTo>
                    <a:lnTo>
                      <a:pt x="57150" y="42862"/>
                    </a:lnTo>
                    <a:moveTo>
                      <a:pt x="0" y="0"/>
                    </a:moveTo>
                    <a:lnTo>
                      <a:pt x="0" y="85725"/>
                    </a:lnTo>
                    <a:moveTo>
                      <a:pt x="114300" y="0"/>
                    </a:moveTo>
                    <a:lnTo>
                      <a:pt x="114300" y="8572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7756" y="5014912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64294" y="107156"/>
                    </a:moveTo>
                    <a:lnTo>
                      <a:pt x="21431" y="128588"/>
                    </a:lnTo>
                    <a:lnTo>
                      <a:pt x="28575" y="78581"/>
                    </a:lnTo>
                    <a:lnTo>
                      <a:pt x="0" y="50006"/>
                    </a:lnTo>
                    <a:lnTo>
                      <a:pt x="42862" y="42862"/>
                    </a:lnTo>
                    <a:lnTo>
                      <a:pt x="64294" y="0"/>
                    </a:lnTo>
                    <a:lnTo>
                      <a:pt x="85725" y="42862"/>
                    </a:lnTo>
                    <a:lnTo>
                      <a:pt x="128588" y="50006"/>
                    </a:lnTo>
                    <a:lnTo>
                      <a:pt x="100012" y="78581"/>
                    </a:lnTo>
                    <a:lnTo>
                      <a:pt x="107156" y="128588"/>
                    </a:lnTo>
                    <a:lnTo>
                      <a:pt x="64294" y="107156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1291583" y="488918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98408" y="52082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经历丰富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02218" y="5594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多项活动组织策划经验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0963656" y="63588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4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xmlns:p="http://schemas.openxmlformats.org/presentationml/2006/main" id="1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50"/>
                            </p:stCondLst>
                            <p:childTnLst>
                              <p:par>
                                <p:cTn xmlns:p="http://schemas.openxmlformats.org/presentationml/2006/main" id="24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850"/>
                            </p:stCondLst>
                            <p:childTnLst>
                              <p:par>
                                <p:cTn xmlns:p="http://schemas.openxmlformats.org/presentationml/2006/main" id="2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650"/>
                            </p:stCondLst>
                            <p:childTnLst>
                              <p:par>
                                <p:cTn xmlns:p="http://schemas.openxmlformats.org/presentationml/2006/main" id="34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42900" y="1098582"/>
            <a:ext cx="11245517" cy="5530818"/>
            <a:chOff x="342900" y="1098582"/>
            <a:chExt cx="11245517" cy="5530818"/>
          </a:xfrm>
        </p:grpSpPr>
        <p:sp>
          <p:nvSpPr>
            <p:cNvPr id="2" name="Freeform 2"/>
            <p:cNvSpPr/>
            <p:nvPr/>
          </p:nvSpPr>
          <p:spPr>
            <a:xfrm>
              <a:off x="11271361" y="1098582"/>
              <a:ext cx="317056" cy="301514"/>
            </a:xfrm>
            <a:custGeom>
              <a:avLst/>
              <a:gdLst/>
              <a:ahLst/>
              <a:cxnLst/>
              <a:rect l="l" t="t" r="r" b="b"/>
              <a:pathLst>
                <a:path w="317056" h="301514">
                  <a:moveTo>
                    <a:pt x="158639" y="250000"/>
                  </a:moveTo>
                  <a:lnTo>
                    <a:pt x="60658" y="301514"/>
                  </a:lnTo>
                  <a:lnTo>
                    <a:pt x="79375" y="192405"/>
                  </a:lnTo>
                  <a:lnTo>
                    <a:pt x="0" y="115142"/>
                  </a:lnTo>
                  <a:lnTo>
                    <a:pt x="109538" y="99267"/>
                  </a:lnTo>
                  <a:lnTo>
                    <a:pt x="158528" y="0"/>
                  </a:lnTo>
                  <a:lnTo>
                    <a:pt x="207518" y="99267"/>
                  </a:lnTo>
                  <a:lnTo>
                    <a:pt x="317056" y="115142"/>
                  </a:lnTo>
                  <a:lnTo>
                    <a:pt x="237681" y="192405"/>
                  </a:lnTo>
                  <a:lnTo>
                    <a:pt x="256398" y="301514"/>
                  </a:lnTo>
                  <a:lnTo>
                    <a:pt x="158639" y="250000"/>
                  </a:ln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342900" y="5562600"/>
              <a:ext cx="1066800" cy="1066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95350" y="1470660"/>
            <a:ext cx="4915433" cy="1390650"/>
            <a:chOff x="895350" y="1470660"/>
            <a:chExt cx="4915433" cy="139065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1470660"/>
              <a:ext cx="263330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认知</a:t>
              </a:r>
              <a:r>
                <a:rPr lang="zh-CN" sz="7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" y="2476500"/>
              <a:ext cx="152400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848356" y="2072640"/>
              <a:ext cx="29624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我理解的团总支 · 四种能力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" y="2857500"/>
            <a:ext cx="2476500" cy="2952750"/>
            <a:chOff x="914400" y="2857500"/>
            <a:chExt cx="2476500" cy="2952750"/>
          </a:xfrm>
        </p:grpSpPr>
        <p:sp>
          <p:nvSpPr>
            <p:cNvPr id="9" name="Rectangle 9"/>
            <p:cNvSpPr/>
            <p:nvPr/>
          </p:nvSpPr>
          <p:spPr>
            <a:xfrm>
              <a:off x="914400" y="2857500"/>
              <a:ext cx="2476500" cy="2952750"/>
            </a:xfrm>
            <a:prstGeom prst="roundRect">
              <a:avLst>
                <a:gd name="adj" fmla="val 7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0912" y="3326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07008" y="40462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协调性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0818" y="4584382"/>
              <a:ext cx="190271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协调辅助各支部，</a:t>
              </a:r>
              <a:br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让党团建设顺畅落地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695700" y="2857500"/>
            <a:ext cx="2476500" cy="2952750"/>
            <a:chOff x="3695700" y="2857500"/>
            <a:chExt cx="2476500" cy="2952750"/>
          </a:xfrm>
        </p:grpSpPr>
        <p:sp>
          <p:nvSpPr>
            <p:cNvPr id="14" name="Rectangle 14"/>
            <p:cNvSpPr/>
            <p:nvPr/>
          </p:nvSpPr>
          <p:spPr>
            <a:xfrm>
              <a:off x="3695700" y="2857500"/>
              <a:ext cx="2476500" cy="2952750"/>
            </a:xfrm>
            <a:prstGeom prst="roundRect">
              <a:avLst>
                <a:gd name="adj" fmla="val 7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982212" y="3326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88308" y="40462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责任心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92118" y="4584382"/>
              <a:ext cx="169316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选择了这个职位，</a:t>
              </a:r>
              <a:br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就有责任把它做好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77000" y="2857500"/>
            <a:ext cx="2476500" cy="2952750"/>
            <a:chOff x="6477000" y="2857500"/>
            <a:chExt cx="2476500" cy="2952750"/>
          </a:xfrm>
        </p:grpSpPr>
        <p:sp>
          <p:nvSpPr>
            <p:cNvPr id="19" name="Rectangle 19"/>
            <p:cNvSpPr/>
            <p:nvPr/>
          </p:nvSpPr>
          <p:spPr>
            <a:xfrm>
              <a:off x="6477000" y="2857500"/>
              <a:ext cx="2476500" cy="2952750"/>
            </a:xfrm>
            <a:prstGeom prst="roundRect">
              <a:avLst>
                <a:gd name="adj" fmla="val 7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63512" y="3326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69608" y="40462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调动性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73418" y="4584382"/>
              <a:ext cx="148361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调动参与热情，</a:t>
              </a:r>
              <a:br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凝聚团员归属感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258300" y="2857500"/>
            <a:ext cx="2476500" cy="2952750"/>
            <a:chOff x="9258300" y="2857500"/>
            <a:chExt cx="2476500" cy="2952750"/>
          </a:xfrm>
        </p:grpSpPr>
        <p:sp>
          <p:nvSpPr>
            <p:cNvPr id="24" name="Rectangle 24"/>
            <p:cNvSpPr/>
            <p:nvPr/>
          </p:nvSpPr>
          <p:spPr>
            <a:xfrm>
              <a:off x="9258300" y="2857500"/>
              <a:ext cx="2476500" cy="2952750"/>
            </a:xfrm>
            <a:prstGeom prst="roundRect">
              <a:avLst>
                <a:gd name="adj" fmla="val 769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544812" y="3326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50908" y="40462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创新性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54718" y="4584382"/>
              <a:ext cx="169316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rgbClr val="FFFFFF">
                      <a:alphaMod val="90000"/>
                    </a:srgbClr>
                  </a:solidFill>
                  <a:latin typeface="+mn-lt"/>
                  <a:ea typeface="+mn-ea"/>
                  <a:cs typeface="+mn-cs"/>
                </a:rPr>
                <a:t>用新形式新平台，</a:t>
              </a:r>
              <a:br/>
              <a:r>
                <a:rPr lang="zh-CN" sz="1650" dirty="0">
                  <a:solidFill>
                    <a:srgbClr val="FFFFFF">
                      <a:alphaMod val="90000"/>
                    </a:srgbClr>
                  </a:solidFill>
                  <a:latin typeface="+mn-lt"/>
                  <a:ea typeface="+mn-ea"/>
                  <a:cs typeface="+mn-cs"/>
                </a:rPr>
                <a:t>团的声音融入日常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963656" y="63588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05 / 12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4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xmlns:p="http://schemas.openxmlformats.org/presentationml/2006/main" id="1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50"/>
                            </p:stCondLst>
                            <p:childTnLst>
                              <p:par>
                                <p:cTn xmlns:p="http://schemas.openxmlformats.org/presentationml/2006/main" id="24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287000" y="1047750"/>
            <a:ext cx="1333500" cy="5224375"/>
            <a:chOff x="10287000" y="1047750"/>
            <a:chExt cx="1333500" cy="5224375"/>
          </a:xfrm>
        </p:grpSpPr>
        <p:sp>
          <p:nvSpPr>
            <p:cNvPr id="2" name="Freeform 2"/>
            <p:cNvSpPr/>
            <p:nvPr/>
          </p:nvSpPr>
          <p:spPr>
            <a:xfrm>
              <a:off x="11236447" y="5940460"/>
              <a:ext cx="348760" cy="331665"/>
            </a:xfrm>
            <a:custGeom>
              <a:avLst/>
              <a:gdLst/>
              <a:ahLst/>
              <a:cxnLst/>
              <a:rect l="l" t="t" r="r" b="b"/>
              <a:pathLst>
                <a:path w="348760" h="331665">
                  <a:moveTo>
                    <a:pt x="174502" y="274999"/>
                  </a:moveTo>
                  <a:lnTo>
                    <a:pt x="66724" y="331665"/>
                  </a:lnTo>
                  <a:lnTo>
                    <a:pt x="87312" y="211645"/>
                  </a:lnTo>
                  <a:lnTo>
                    <a:pt x="0" y="126655"/>
                  </a:lnTo>
                  <a:lnTo>
                    <a:pt x="120491" y="109193"/>
                  </a:lnTo>
                  <a:lnTo>
                    <a:pt x="174380" y="0"/>
                  </a:lnTo>
                  <a:lnTo>
                    <a:pt x="228269" y="109193"/>
                  </a:lnTo>
                  <a:lnTo>
                    <a:pt x="348760" y="126655"/>
                  </a:lnTo>
                  <a:lnTo>
                    <a:pt x="261448" y="211645"/>
                  </a:lnTo>
                  <a:lnTo>
                    <a:pt x="282036" y="331665"/>
                  </a:lnTo>
                  <a:lnTo>
                    <a:pt x="174502" y="274999"/>
                  </a:lnTo>
                </a:path>
              </a:pathLst>
            </a:custGeom>
            <a:noFill/>
            <a:ln w="34925">
              <a:solidFill>
                <a:schemeClr val="accent2"/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10287000" y="1047750"/>
              <a:ext cx="1333500" cy="1333500"/>
            </a:xfrm>
            <a:prstGeom prst="ellipse">
              <a:avLst/>
            </a:prstGeom>
            <a:noFill/>
            <a:ln w="95250">
              <a:solidFill>
                <a:schemeClr val="accent2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95350" y="1470660"/>
            <a:ext cx="3909822" cy="1390650"/>
            <a:chOff x="895350" y="1470660"/>
            <a:chExt cx="3909822" cy="139065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1470660"/>
              <a:ext cx="207355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使命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" y="2476500"/>
              <a:ext cx="152400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848356" y="2072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团总支的两大任务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" y="2857500"/>
            <a:ext cx="4953000" cy="3143250"/>
            <a:chOff x="914400" y="2857500"/>
            <a:chExt cx="4953000" cy="3143250"/>
          </a:xfrm>
        </p:grpSpPr>
        <p:sp>
          <p:nvSpPr>
            <p:cNvPr id="9" name="Rectangle 9"/>
            <p:cNvSpPr/>
            <p:nvPr/>
          </p:nvSpPr>
          <p:spPr>
            <a:xfrm>
              <a:off x="914400" y="2857500"/>
              <a:ext cx="4953000" cy="3143250"/>
            </a:xfrm>
            <a:prstGeom prst="roundRect">
              <a:avLst>
                <a:gd name="adj" fmla="val 727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343025" y="3340100"/>
              <a:ext cx="269876" cy="254001"/>
            </a:xfrm>
            <a:custGeom>
              <a:avLst/>
              <a:gdLst/>
              <a:ahLst/>
              <a:cxnLst/>
              <a:rect l="l" t="t" r="r" b="b"/>
              <a:pathLst>
                <a:path w="269876" h="254001">
                  <a:moveTo>
                    <a:pt x="206375" y="222250"/>
                  </a:moveTo>
                  <a:cubicBezTo>
                    <a:pt x="223910" y="222250"/>
                    <a:pt x="238125" y="236465"/>
                    <a:pt x="238125" y="254001"/>
                  </a:cubicBezTo>
                  <a:cubicBezTo>
                    <a:pt x="238125" y="236465"/>
                    <a:pt x="252340" y="222250"/>
                    <a:pt x="269876" y="222250"/>
                  </a:cubicBezTo>
                  <a:cubicBezTo>
                    <a:pt x="252340" y="222250"/>
                    <a:pt x="238125" y="208035"/>
                    <a:pt x="238125" y="190500"/>
                  </a:cubicBezTo>
                  <a:cubicBezTo>
                    <a:pt x="238125" y="208035"/>
                    <a:pt x="223910" y="222250"/>
                    <a:pt x="206375" y="222250"/>
                  </a:cubicBezTo>
                  <a:moveTo>
                    <a:pt x="206375" y="31750"/>
                  </a:moveTo>
                  <a:cubicBezTo>
                    <a:pt x="223910" y="31750"/>
                    <a:pt x="238125" y="45965"/>
                    <a:pt x="238125" y="63500"/>
                  </a:cubicBezTo>
                  <a:cubicBezTo>
                    <a:pt x="238125" y="45965"/>
                    <a:pt x="252340" y="31750"/>
                    <a:pt x="269876" y="31750"/>
                  </a:cubicBezTo>
                  <a:cubicBezTo>
                    <a:pt x="252340" y="31750"/>
                    <a:pt x="238125" y="17535"/>
                    <a:pt x="238125" y="0"/>
                  </a:cubicBezTo>
                  <a:cubicBezTo>
                    <a:pt x="238125" y="17535"/>
                    <a:pt x="223910" y="31750"/>
                    <a:pt x="206375" y="31750"/>
                  </a:cubicBezTo>
                  <a:moveTo>
                    <a:pt x="95250" y="222250"/>
                  </a:moveTo>
                  <a:cubicBezTo>
                    <a:pt x="95250" y="169645"/>
                    <a:pt x="137895" y="127000"/>
                    <a:pt x="190500" y="127000"/>
                  </a:cubicBezTo>
                  <a:cubicBezTo>
                    <a:pt x="137895" y="127000"/>
                    <a:pt x="95250" y="84355"/>
                    <a:pt x="95250" y="31750"/>
                  </a:cubicBezTo>
                  <a:cubicBezTo>
                    <a:pt x="95250" y="84355"/>
                    <a:pt x="52605" y="127000"/>
                    <a:pt x="0" y="127000"/>
                  </a:cubicBezTo>
                  <a:cubicBezTo>
                    <a:pt x="52605" y="127000"/>
                    <a:pt x="95250" y="169645"/>
                    <a:pt x="95250" y="222250"/>
                  </a:cubicBez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77112" y="3916680"/>
              <a:ext cx="207203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开展活动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86256" y="4644390"/>
              <a:ext cx="3675888" cy="733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800" dirty="0">
                  <a:solidFill>
                    <a:srgbClr val="FFFFFF">
                      <a:alphaMod val="92000"/>
                    </a:srgbClr>
                  </a:solidFill>
                  <a:latin typeface="+mn-lt"/>
                  <a:ea typeface="+mn-ea"/>
                  <a:cs typeface="+mn-cs"/>
                </a:rPr>
                <a:t>协调和辅助各支部开展党团建设活动</a:t>
              </a:r>
              <a:br/>
              <a:r>
                <a:rPr lang="zh-CN" sz="1800" dirty="0">
                  <a:solidFill>
                    <a:srgbClr val="FFFFFF">
                      <a:alphaMod val="92000"/>
                    </a:srgbClr>
                  </a:solidFill>
                  <a:latin typeface="+mn-lt"/>
                  <a:ea typeface="+mn-ea"/>
                  <a:cs typeface="+mn-cs"/>
                </a:rPr>
                <a:t>在活动中加强同学们的党团意识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86256" y="540639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为国为党培养优秀接班人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24600" y="2857500"/>
            <a:ext cx="4953000" cy="3143250"/>
            <a:chOff x="6324600" y="2857500"/>
            <a:chExt cx="4953000" cy="3143250"/>
          </a:xfrm>
        </p:grpSpPr>
        <p:sp>
          <p:nvSpPr>
            <p:cNvPr id="15" name="Rectangle 15"/>
            <p:cNvSpPr/>
            <p:nvPr/>
          </p:nvSpPr>
          <p:spPr>
            <a:xfrm>
              <a:off x="6324600" y="2857500"/>
              <a:ext cx="4953000" cy="3143250"/>
            </a:xfrm>
            <a:prstGeom prst="roundRect">
              <a:avLst>
                <a:gd name="adj" fmla="val 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6747728" y="3336027"/>
              <a:ext cx="296457" cy="258073"/>
            </a:xfrm>
            <a:custGeom>
              <a:avLst/>
              <a:gdLst/>
              <a:ahLst/>
              <a:cxnLst/>
              <a:rect l="l" t="t" r="r" b="b"/>
              <a:pathLst>
                <a:path w="296457" h="258073">
                  <a:moveTo>
                    <a:pt x="267435" y="140153"/>
                  </a:moveTo>
                  <a:lnTo>
                    <a:pt x="148372" y="258073"/>
                  </a:lnTo>
                  <a:lnTo>
                    <a:pt x="29310" y="140153"/>
                  </a:lnTo>
                  <a:cubicBezTo>
                    <a:pt x="7899" y="119319"/>
                    <a:pt x="0" y="88227"/>
                    <a:pt x="8870" y="59699"/>
                  </a:cubicBezTo>
                  <a:cubicBezTo>
                    <a:pt x="17740" y="31172"/>
                    <a:pt x="41877" y="10041"/>
                    <a:pt x="71327" y="5020"/>
                  </a:cubicBezTo>
                  <a:cubicBezTo>
                    <a:pt x="100777" y="0"/>
                    <a:pt x="130551" y="11941"/>
                    <a:pt x="148372" y="35918"/>
                  </a:cubicBezTo>
                  <a:cubicBezTo>
                    <a:pt x="166268" y="12118"/>
                    <a:pt x="195979" y="336"/>
                    <a:pt x="225322" y="5403"/>
                  </a:cubicBezTo>
                  <a:cubicBezTo>
                    <a:pt x="254665" y="10471"/>
                    <a:pt x="278704" y="31535"/>
                    <a:pt x="287580" y="59958"/>
                  </a:cubicBezTo>
                  <a:cubicBezTo>
                    <a:pt x="296457" y="88382"/>
                    <a:pt x="288679" y="119383"/>
                    <a:pt x="267435" y="140249"/>
                  </a:cubicBezTo>
                </a:path>
              </a:pathLst>
            </a:custGeom>
            <a:noFill/>
            <a:ln w="31750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87312" y="3916680"/>
              <a:ext cx="258089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培养责任感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96456" y="4644390"/>
              <a:ext cx="3904488" cy="733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团日活动会占用空余时间甚至学习时间</a:t>
              </a:r>
              <a:br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但既然选择了这个职位，便有责任做好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96456" y="54063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选择了，就负责到底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963656" y="63588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06 / 12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4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03806" y="-1047750"/>
            <a:ext cx="13269344" cy="7129375"/>
            <a:chOff x="503806" y="-1047750"/>
            <a:chExt cx="13269344" cy="7129375"/>
          </a:xfrm>
        </p:grpSpPr>
        <p:sp>
          <p:nvSpPr>
            <p:cNvPr id="2" name="Ellipse 2"/>
            <p:cNvSpPr/>
            <p:nvPr/>
          </p:nvSpPr>
          <p:spPr>
            <a:xfrm>
              <a:off x="9391650" y="-1047750"/>
              <a:ext cx="4381500" cy="438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963150" y="-476250"/>
              <a:ext cx="3238500" cy="3238500"/>
            </a:xfrm>
            <a:prstGeom prst="ellipse">
              <a:avLst/>
            </a:prstGeom>
            <a:noFill/>
            <a:ln w="95250">
              <a:solidFill>
                <a:schemeClr val="accent2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49447" y="5749960"/>
              <a:ext cx="348760" cy="331665"/>
            </a:xfrm>
            <a:custGeom>
              <a:avLst/>
              <a:gdLst/>
              <a:ahLst/>
              <a:cxnLst/>
              <a:rect l="l" t="t" r="r" b="b"/>
              <a:pathLst>
                <a:path w="348760" h="331665">
                  <a:moveTo>
                    <a:pt x="174502" y="274999"/>
                  </a:moveTo>
                  <a:lnTo>
                    <a:pt x="66724" y="331665"/>
                  </a:lnTo>
                  <a:lnTo>
                    <a:pt x="87312" y="211645"/>
                  </a:lnTo>
                  <a:lnTo>
                    <a:pt x="0" y="126655"/>
                  </a:lnTo>
                  <a:lnTo>
                    <a:pt x="120491" y="109193"/>
                  </a:lnTo>
                  <a:lnTo>
                    <a:pt x="174380" y="0"/>
                  </a:lnTo>
                  <a:lnTo>
                    <a:pt x="228269" y="109193"/>
                  </a:lnTo>
                  <a:lnTo>
                    <a:pt x="348760" y="126655"/>
                  </a:lnTo>
                  <a:lnTo>
                    <a:pt x="261448" y="211645"/>
                  </a:lnTo>
                  <a:lnTo>
                    <a:pt x="282036" y="331665"/>
                  </a:lnTo>
                  <a:lnTo>
                    <a:pt x="174502" y="274999"/>
                  </a:lnTo>
                </a:path>
              </a:pathLst>
            </a:custGeom>
            <a:noFill/>
            <a:ln w="34925">
              <a:solidFill>
                <a:schemeClr val="accent2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11271361" y="5746782"/>
              <a:ext cx="317056" cy="301514"/>
            </a:xfrm>
            <a:custGeom>
              <a:avLst/>
              <a:gdLst/>
              <a:ahLst/>
              <a:cxnLst/>
              <a:rect l="l" t="t" r="r" b="b"/>
              <a:pathLst>
                <a:path w="317056" h="301514">
                  <a:moveTo>
                    <a:pt x="158639" y="250000"/>
                  </a:moveTo>
                  <a:lnTo>
                    <a:pt x="60658" y="301514"/>
                  </a:lnTo>
                  <a:lnTo>
                    <a:pt x="79375" y="192405"/>
                  </a:lnTo>
                  <a:lnTo>
                    <a:pt x="0" y="115142"/>
                  </a:lnTo>
                  <a:lnTo>
                    <a:pt x="109538" y="99267"/>
                  </a:lnTo>
                  <a:lnTo>
                    <a:pt x="158528" y="0"/>
                  </a:lnTo>
                  <a:lnTo>
                    <a:pt x="207518" y="99267"/>
                  </a:lnTo>
                  <a:lnTo>
                    <a:pt x="317056" y="115142"/>
                  </a:lnTo>
                  <a:lnTo>
                    <a:pt x="237681" y="192405"/>
                  </a:lnTo>
                  <a:lnTo>
                    <a:pt x="256398" y="301514"/>
                  </a:lnTo>
                  <a:lnTo>
                    <a:pt x="158639" y="250000"/>
                  </a:lnTo>
                </a:path>
              </a:pathLst>
            </a:custGeom>
            <a:noFill/>
            <a:ln w="31750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 rot="960000">
              <a:off x="571500" y="2857500"/>
              <a:ext cx="57150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895350" y="2270760"/>
            <a:ext cx="5986882" cy="1390650"/>
            <a:chOff x="895350" y="2270760"/>
            <a:chExt cx="5986882" cy="1390650"/>
          </a:xfrm>
        </p:grpSpPr>
        <p:sp>
          <p:nvSpPr>
            <p:cNvPr id="8" name="TextBox 8"/>
            <p:cNvSpPr txBox="1"/>
            <p:nvPr/>
          </p:nvSpPr>
          <p:spPr>
            <a:xfrm>
              <a:off x="895350" y="2270760"/>
              <a:ext cx="207355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90950" y="2270760"/>
              <a:ext cx="3091282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四件事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4400" y="3390900"/>
              <a:ext cx="190500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14400" y="4476750"/>
            <a:ext cx="10363200" cy="57150"/>
            <a:chOff x="914400" y="4476750"/>
            <a:chExt cx="10363200" cy="57150"/>
          </a:xfrm>
        </p:grpSpPr>
        <p:sp>
          <p:nvSpPr>
            <p:cNvPr id="12" name="Rectangle 12"/>
            <p:cNvSpPr/>
            <p:nvPr/>
          </p:nvSpPr>
          <p:spPr>
            <a:xfrm>
              <a:off x="914400" y="4476750"/>
              <a:ext cx="10363200" cy="571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452646" y="4846320"/>
            <a:ext cx="1104931" cy="469392"/>
            <a:chOff x="1452646" y="4846320"/>
            <a:chExt cx="1104931" cy="469392"/>
          </a:xfrm>
        </p:grpSpPr>
        <p:sp>
          <p:nvSpPr>
            <p:cNvPr id="14" name="Freeform 14"/>
            <p:cNvSpPr/>
            <p:nvPr/>
          </p:nvSpPr>
          <p:spPr>
            <a:xfrm>
              <a:off x="1452646" y="4900636"/>
              <a:ext cx="237792" cy="226135"/>
            </a:xfrm>
            <a:custGeom>
              <a:avLst/>
              <a:gdLst/>
              <a:ahLst/>
              <a:cxnLst/>
              <a:rect l="l" t="t" r="r" b="b"/>
              <a:pathLst>
                <a:path w="237792" h="226135">
                  <a:moveTo>
                    <a:pt x="118979" y="187500"/>
                  </a:moveTo>
                  <a:lnTo>
                    <a:pt x="45494" y="226135"/>
                  </a:lnTo>
                  <a:lnTo>
                    <a:pt x="59531" y="144304"/>
                  </a:lnTo>
                  <a:lnTo>
                    <a:pt x="0" y="86356"/>
                  </a:lnTo>
                  <a:lnTo>
                    <a:pt x="82153" y="74450"/>
                  </a:lnTo>
                  <a:lnTo>
                    <a:pt x="118896" y="0"/>
                  </a:lnTo>
                  <a:lnTo>
                    <a:pt x="155639" y="74450"/>
                  </a:lnTo>
                  <a:lnTo>
                    <a:pt x="237792" y="86356"/>
                  </a:lnTo>
                  <a:lnTo>
                    <a:pt x="178260" y="144304"/>
                  </a:lnTo>
                  <a:lnTo>
                    <a:pt x="192298" y="226135"/>
                  </a:lnTo>
                  <a:lnTo>
                    <a:pt x="118979" y="18750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54708" y="4846320"/>
              <a:ext cx="702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活力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214896" y="4846320"/>
            <a:ext cx="1104931" cy="469392"/>
            <a:chOff x="4214896" y="4846320"/>
            <a:chExt cx="1104931" cy="469392"/>
          </a:xfrm>
        </p:grpSpPr>
        <p:sp>
          <p:nvSpPr>
            <p:cNvPr id="17" name="Freeform 17"/>
            <p:cNvSpPr/>
            <p:nvPr/>
          </p:nvSpPr>
          <p:spPr>
            <a:xfrm>
              <a:off x="4214896" y="4900636"/>
              <a:ext cx="237792" cy="226135"/>
            </a:xfrm>
            <a:custGeom>
              <a:avLst/>
              <a:gdLst/>
              <a:ahLst/>
              <a:cxnLst/>
              <a:rect l="l" t="t" r="r" b="b"/>
              <a:pathLst>
                <a:path w="237792" h="226135">
                  <a:moveTo>
                    <a:pt x="118979" y="187500"/>
                  </a:moveTo>
                  <a:lnTo>
                    <a:pt x="45494" y="226135"/>
                  </a:lnTo>
                  <a:lnTo>
                    <a:pt x="59531" y="144304"/>
                  </a:lnTo>
                  <a:lnTo>
                    <a:pt x="0" y="86356"/>
                  </a:lnTo>
                  <a:lnTo>
                    <a:pt x="82153" y="74450"/>
                  </a:lnTo>
                  <a:lnTo>
                    <a:pt x="118896" y="0"/>
                  </a:lnTo>
                  <a:lnTo>
                    <a:pt x="155638" y="74450"/>
                  </a:lnTo>
                  <a:lnTo>
                    <a:pt x="237792" y="86356"/>
                  </a:lnTo>
                  <a:lnTo>
                    <a:pt x="178260" y="144304"/>
                  </a:lnTo>
                  <a:lnTo>
                    <a:pt x="192298" y="226135"/>
                  </a:lnTo>
                  <a:lnTo>
                    <a:pt x="118979" y="18750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16958" y="4846320"/>
              <a:ext cx="702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服务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977146" y="4846320"/>
            <a:ext cx="1104931" cy="469392"/>
            <a:chOff x="6977146" y="4846320"/>
            <a:chExt cx="1104931" cy="469392"/>
          </a:xfrm>
        </p:grpSpPr>
        <p:sp>
          <p:nvSpPr>
            <p:cNvPr id="20" name="Freeform 20"/>
            <p:cNvSpPr/>
            <p:nvPr/>
          </p:nvSpPr>
          <p:spPr>
            <a:xfrm>
              <a:off x="6977146" y="4900636"/>
              <a:ext cx="237792" cy="226135"/>
            </a:xfrm>
            <a:custGeom>
              <a:avLst/>
              <a:gdLst/>
              <a:ahLst/>
              <a:cxnLst/>
              <a:rect l="l" t="t" r="r" b="b"/>
              <a:pathLst>
                <a:path w="237792" h="226135">
                  <a:moveTo>
                    <a:pt x="118979" y="187500"/>
                  </a:moveTo>
                  <a:lnTo>
                    <a:pt x="45494" y="226135"/>
                  </a:lnTo>
                  <a:lnTo>
                    <a:pt x="59531" y="144304"/>
                  </a:lnTo>
                  <a:lnTo>
                    <a:pt x="0" y="86356"/>
                  </a:lnTo>
                  <a:lnTo>
                    <a:pt x="82153" y="74450"/>
                  </a:lnTo>
                  <a:lnTo>
                    <a:pt x="118896" y="0"/>
                  </a:lnTo>
                  <a:lnTo>
                    <a:pt x="155639" y="74450"/>
                  </a:lnTo>
                  <a:lnTo>
                    <a:pt x="237792" y="86356"/>
                  </a:lnTo>
                  <a:lnTo>
                    <a:pt x="178260" y="144304"/>
                  </a:lnTo>
                  <a:lnTo>
                    <a:pt x="192298" y="226135"/>
                  </a:lnTo>
                  <a:lnTo>
                    <a:pt x="118979" y="18750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79208" y="4846320"/>
              <a:ext cx="702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创新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39396" y="4846320"/>
            <a:ext cx="1104931" cy="469392"/>
            <a:chOff x="9739396" y="4846320"/>
            <a:chExt cx="1104931" cy="469392"/>
          </a:xfrm>
        </p:grpSpPr>
        <p:sp>
          <p:nvSpPr>
            <p:cNvPr id="23" name="Freeform 23"/>
            <p:cNvSpPr/>
            <p:nvPr/>
          </p:nvSpPr>
          <p:spPr>
            <a:xfrm>
              <a:off x="9739396" y="4900636"/>
              <a:ext cx="237792" cy="226135"/>
            </a:xfrm>
            <a:custGeom>
              <a:avLst/>
              <a:gdLst/>
              <a:ahLst/>
              <a:cxnLst/>
              <a:rect l="l" t="t" r="r" b="b"/>
              <a:pathLst>
                <a:path w="237792" h="226135">
                  <a:moveTo>
                    <a:pt x="118979" y="187500"/>
                  </a:moveTo>
                  <a:lnTo>
                    <a:pt x="45494" y="226135"/>
                  </a:lnTo>
                  <a:lnTo>
                    <a:pt x="59531" y="144304"/>
                  </a:lnTo>
                  <a:lnTo>
                    <a:pt x="0" y="86356"/>
                  </a:lnTo>
                  <a:lnTo>
                    <a:pt x="82153" y="74450"/>
                  </a:lnTo>
                  <a:lnTo>
                    <a:pt x="118896" y="0"/>
                  </a:lnTo>
                  <a:lnTo>
                    <a:pt x="155639" y="74450"/>
                  </a:lnTo>
                  <a:lnTo>
                    <a:pt x="237792" y="86356"/>
                  </a:lnTo>
                  <a:lnTo>
                    <a:pt x="178260" y="144304"/>
                  </a:lnTo>
                  <a:lnTo>
                    <a:pt x="192298" y="226135"/>
                  </a:lnTo>
                  <a:lnTo>
                    <a:pt x="118979" y="18750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141458" y="4846320"/>
              <a:ext cx="702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团队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05256" y="5977890"/>
            <a:ext cx="4161892" cy="352044"/>
            <a:chOff x="905256" y="5977890"/>
            <a:chExt cx="4161892" cy="352044"/>
          </a:xfrm>
        </p:grpSpPr>
        <p:sp>
          <p:nvSpPr>
            <p:cNvPr id="26" name="TextBox 26"/>
            <p:cNvSpPr txBox="1"/>
            <p:nvPr/>
          </p:nvSpPr>
          <p:spPr>
            <a:xfrm>
              <a:off x="905256" y="5977890"/>
              <a:ext cx="41618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四项行动，一个方向——如果我有幸当选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963656" y="63588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07 / 12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xmlns:p="http://schemas.openxmlformats.org/presentationml/2006/main" id="13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150"/>
                            </p:stCondLst>
                            <p:childTnLst>
                              <p:par>
                                <p:cTn xmlns:p="http://schemas.openxmlformats.org/presentationml/2006/main" id="18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950"/>
                            </p:stCondLst>
                            <p:childTnLst>
                              <p:par>
                                <p:cTn xmlns:p="http://schemas.openxmlformats.org/presentationml/2006/main" id="23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750"/>
                            </p:stCondLst>
                            <p:childTnLst>
                              <p:par>
                                <p:cTn xmlns:p="http://schemas.openxmlformats.org/presentationml/2006/main" id="28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57250" y="95250"/>
            <a:ext cx="10956557" cy="5605375"/>
            <a:chOff x="857250" y="95250"/>
            <a:chExt cx="10956557" cy="5605375"/>
          </a:xfrm>
        </p:grpSpPr>
        <p:sp>
          <p:nvSpPr>
            <p:cNvPr id="2" name="Ellipse 2"/>
            <p:cNvSpPr/>
            <p:nvPr/>
          </p:nvSpPr>
          <p:spPr>
            <a:xfrm>
              <a:off x="857250" y="95250"/>
              <a:ext cx="4000500" cy="4000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11465047" y="5368960"/>
              <a:ext cx="348760" cy="331665"/>
            </a:xfrm>
            <a:custGeom>
              <a:avLst/>
              <a:gdLst/>
              <a:ahLst/>
              <a:cxnLst/>
              <a:rect l="l" t="t" r="r" b="b"/>
              <a:pathLst>
                <a:path w="348760" h="331665">
                  <a:moveTo>
                    <a:pt x="174502" y="274999"/>
                  </a:moveTo>
                  <a:lnTo>
                    <a:pt x="66724" y="331665"/>
                  </a:lnTo>
                  <a:lnTo>
                    <a:pt x="87312" y="211645"/>
                  </a:lnTo>
                  <a:lnTo>
                    <a:pt x="0" y="126655"/>
                  </a:lnTo>
                  <a:lnTo>
                    <a:pt x="120491" y="109193"/>
                  </a:lnTo>
                  <a:lnTo>
                    <a:pt x="174380" y="0"/>
                  </a:lnTo>
                  <a:lnTo>
                    <a:pt x="228269" y="109193"/>
                  </a:lnTo>
                  <a:lnTo>
                    <a:pt x="348760" y="126655"/>
                  </a:lnTo>
                  <a:lnTo>
                    <a:pt x="261448" y="211645"/>
                  </a:lnTo>
                  <a:lnTo>
                    <a:pt x="282036" y="331665"/>
                  </a:lnTo>
                  <a:lnTo>
                    <a:pt x="174502" y="274999"/>
                  </a:lnTo>
                </a:path>
              </a:pathLst>
            </a:custGeom>
            <a:noFill/>
            <a:ln w="34925">
              <a:solidFill>
                <a:schemeClr val="accent2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95350" y="3528060"/>
            <a:ext cx="2073554" cy="1390650"/>
            <a:chOff x="895350" y="3528060"/>
            <a:chExt cx="2073554" cy="139065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3528060"/>
              <a:ext cx="207355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</a:t>
              </a:r>
              <a:r>
                <a:rPr lang="zh-CN" sz="7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力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" y="4572000"/>
              <a:ext cx="133350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845808" y="2510790"/>
            <a:ext cx="4291584" cy="2980944"/>
            <a:chOff x="6845808" y="2510790"/>
            <a:chExt cx="4291584" cy="2980944"/>
          </a:xfrm>
        </p:grpSpPr>
        <p:sp>
          <p:nvSpPr>
            <p:cNvPr id="8" name="TextBox 8"/>
            <p:cNvSpPr txBox="1"/>
            <p:nvPr/>
          </p:nvSpPr>
          <p:spPr>
            <a:xfrm>
              <a:off x="6848856" y="2510790"/>
              <a:ext cx="29082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PLAN 01 · 增强组织活力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45808" y="3055620"/>
              <a:ext cx="4291584" cy="17266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定期开展主题鲜明、形式丰富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的团日活动，贴合高中同学的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学习节奏与兴趣特点，充分调动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大家的参与热情。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0" y="4762500"/>
              <a:ext cx="4953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48856" y="513969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目标：提升团员凝聚力与集体归属感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58000" y="4191000"/>
            <a:ext cx="3733800" cy="495300"/>
            <a:chOff x="6858000" y="4191000"/>
            <a:chExt cx="3733800" cy="495300"/>
          </a:xfrm>
        </p:grpSpPr>
        <p:sp>
          <p:nvSpPr>
            <p:cNvPr id="13" name="Rectangle 13"/>
            <p:cNvSpPr/>
            <p:nvPr/>
          </p:nvSpPr>
          <p:spPr>
            <a:xfrm>
              <a:off x="6858000" y="4191000"/>
              <a:ext cx="1143000" cy="495300"/>
            </a:xfrm>
            <a:prstGeom prst="roundRect">
              <a:avLst>
                <a:gd name="adj" fmla="val 23077"/>
              </a:avLst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11492" y="4320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红色研学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153400" y="4191000"/>
              <a:ext cx="1143000" cy="495300"/>
            </a:xfrm>
            <a:prstGeom prst="roundRect">
              <a:avLst>
                <a:gd name="adj" fmla="val 23077"/>
              </a:avLst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06892" y="4320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主题宣讲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448800" y="4191000"/>
              <a:ext cx="1143000" cy="495300"/>
            </a:xfrm>
            <a:prstGeom prst="roundRect">
              <a:avLst>
                <a:gd name="adj" fmla="val 23077"/>
              </a:avLst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02292" y="4320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志愿服务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963656" y="63588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08 / 12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4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47650" y="1174782"/>
            <a:ext cx="11340767" cy="5683218"/>
            <a:chOff x="247650" y="1174782"/>
            <a:chExt cx="11340767" cy="5683218"/>
          </a:xfrm>
        </p:grpSpPr>
        <p:sp>
          <p:nvSpPr>
            <p:cNvPr id="2" name="Freeform 2"/>
            <p:cNvSpPr/>
            <p:nvPr/>
          </p:nvSpPr>
          <p:spPr>
            <a:xfrm>
              <a:off x="11271361" y="1174782"/>
              <a:ext cx="317056" cy="301514"/>
            </a:xfrm>
            <a:custGeom>
              <a:avLst/>
              <a:gdLst/>
              <a:ahLst/>
              <a:cxnLst/>
              <a:rect l="l" t="t" r="r" b="b"/>
              <a:pathLst>
                <a:path w="317056" h="301514">
                  <a:moveTo>
                    <a:pt x="158639" y="250000"/>
                  </a:moveTo>
                  <a:lnTo>
                    <a:pt x="60658" y="301514"/>
                  </a:lnTo>
                  <a:lnTo>
                    <a:pt x="79375" y="192405"/>
                  </a:lnTo>
                  <a:lnTo>
                    <a:pt x="0" y="115142"/>
                  </a:lnTo>
                  <a:lnTo>
                    <a:pt x="109538" y="99267"/>
                  </a:lnTo>
                  <a:lnTo>
                    <a:pt x="158528" y="0"/>
                  </a:lnTo>
                  <a:lnTo>
                    <a:pt x="207518" y="99267"/>
                  </a:lnTo>
                  <a:lnTo>
                    <a:pt x="317056" y="115142"/>
                  </a:lnTo>
                  <a:lnTo>
                    <a:pt x="237681" y="192405"/>
                  </a:lnTo>
                  <a:lnTo>
                    <a:pt x="256398" y="301514"/>
                  </a:lnTo>
                  <a:lnTo>
                    <a:pt x="158639" y="250000"/>
                  </a:ln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247650" y="5524500"/>
              <a:ext cx="1333500" cy="1333500"/>
            </a:xfrm>
            <a:prstGeom prst="ellipse">
              <a:avLst/>
            </a:prstGeom>
            <a:noFill/>
            <a:ln w="95250">
              <a:solidFill>
                <a:schemeClr val="accent2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95350" y="1470660"/>
            <a:ext cx="5363718" cy="1390650"/>
            <a:chOff x="895350" y="1470660"/>
            <a:chExt cx="5363718" cy="139065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1470660"/>
              <a:ext cx="207355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" y="2476500"/>
              <a:ext cx="152400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848356" y="207264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当好老师与同学之间的桥梁纽带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2857500"/>
            <a:ext cx="10363200" cy="876300"/>
            <a:chOff x="914400" y="2857500"/>
            <a:chExt cx="10363200" cy="876300"/>
          </a:xfrm>
        </p:grpSpPr>
        <p:sp>
          <p:nvSpPr>
            <p:cNvPr id="9" name="Rectangle 9"/>
            <p:cNvSpPr/>
            <p:nvPr/>
          </p:nvSpPr>
          <p:spPr>
            <a:xfrm>
              <a:off x="914400" y="2857500"/>
              <a:ext cx="10363200" cy="876300"/>
            </a:xfrm>
            <a:prstGeom prst="roundRect">
              <a:avLst>
                <a:gd name="adj" fmla="val 17391"/>
              </a:avLst>
            </a:prstGeom>
            <a:solidFill>
              <a:schemeClr val="accent5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352513" y="3143360"/>
              <a:ext cx="230603" cy="297924"/>
              <a:chOff x="1352513" y="3143360"/>
              <a:chExt cx="230603" cy="29792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352513" y="3143360"/>
                <a:ext cx="230603" cy="297924"/>
              </a:xfrm>
              <a:custGeom>
                <a:avLst/>
                <a:gdLst/>
                <a:ahLst/>
                <a:cxnLst/>
                <a:rect l="l" t="t" r="r" b="b"/>
                <a:pathLst>
                  <a:path w="230603" h="297924">
                    <a:moveTo>
                      <a:pt x="37" y="120541"/>
                    </a:moveTo>
                    <a:cubicBezTo>
                      <a:pt x="0" y="73575"/>
                      <a:pt x="29492" y="31657"/>
                      <a:pt x="73710" y="15829"/>
                    </a:cubicBezTo>
                    <a:cubicBezTo>
                      <a:pt x="117927" y="0"/>
                      <a:pt x="167322" y="13678"/>
                      <a:pt x="197098" y="49998"/>
                    </a:cubicBezTo>
                    <a:cubicBezTo>
                      <a:pt x="226875" y="86317"/>
                      <a:pt x="230603" y="137435"/>
                      <a:pt x="206413" y="177691"/>
                    </a:cubicBezTo>
                    <a:cubicBezTo>
                      <a:pt x="197387" y="189725"/>
                      <a:pt x="186697" y="200415"/>
                      <a:pt x="174663" y="209441"/>
                    </a:cubicBezTo>
                    <a:cubicBezTo>
                      <a:pt x="160593" y="222693"/>
                      <a:pt x="149734" y="238982"/>
                      <a:pt x="142913" y="257066"/>
                    </a:cubicBezTo>
                    <a:cubicBezTo>
                      <a:pt x="132938" y="275915"/>
                      <a:pt x="115064" y="289323"/>
                      <a:pt x="94176" y="293623"/>
                    </a:cubicBezTo>
                    <a:cubicBezTo>
                      <a:pt x="73288" y="297924"/>
                      <a:pt x="51572" y="292667"/>
                      <a:pt x="34962" y="279291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415788" y="3211743"/>
                <a:ext cx="100236" cy="87083"/>
              </a:xfrm>
              <a:custGeom>
                <a:avLst/>
                <a:gdLst/>
                <a:ahLst/>
                <a:cxnLst/>
                <a:rect l="l" t="t" r="r" b="b"/>
                <a:pathLst>
                  <a:path w="100236" h="87083">
                    <a:moveTo>
                      <a:pt x="263" y="52158"/>
                    </a:moveTo>
                    <a:cubicBezTo>
                      <a:pt x="0" y="30204"/>
                      <a:pt x="14779" y="10916"/>
                      <a:pt x="36044" y="5458"/>
                    </a:cubicBezTo>
                    <a:cubicBezTo>
                      <a:pt x="57309" y="0"/>
                      <a:pt x="79551" y="9786"/>
                      <a:pt x="89893" y="29152"/>
                    </a:cubicBezTo>
                    <a:cubicBezTo>
                      <a:pt x="100236" y="48518"/>
                      <a:pt x="96000" y="72445"/>
                      <a:pt x="79638" y="87083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969008" y="29794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倾听需求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72818" y="3384232"/>
              <a:ext cx="77910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搭建团员意见反馈渠道，倾听学习互助、校园生活、思想成长、升学规划等需求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707866" y="32508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" y="3924300"/>
            <a:ext cx="10363200" cy="876300"/>
            <a:chOff x="914400" y="3924300"/>
            <a:chExt cx="10363200" cy="876300"/>
          </a:xfrm>
        </p:grpSpPr>
        <p:sp>
          <p:nvSpPr>
            <p:cNvPr id="17" name="Rectangle 17"/>
            <p:cNvSpPr/>
            <p:nvPr/>
          </p:nvSpPr>
          <p:spPr>
            <a:xfrm>
              <a:off x="914400" y="3924300"/>
              <a:ext cx="10363200" cy="876300"/>
            </a:xfrm>
            <a:prstGeom prst="roundRect">
              <a:avLst>
                <a:gd name="adj" fmla="val 17391"/>
              </a:avLst>
            </a:prstGeom>
            <a:noFill/>
            <a:ln w="38100">
              <a:solidFill>
                <a:schemeClr val="accent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304925" y="4234790"/>
              <a:ext cx="285751" cy="254660"/>
              <a:chOff x="1304925" y="4234790"/>
              <a:chExt cx="285751" cy="2546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543051" y="42989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0"/>
                    </a:moveTo>
                    <a:cubicBezTo>
                      <a:pt x="26303" y="0"/>
                      <a:pt x="47625" y="21322"/>
                      <a:pt x="47625" y="47625"/>
                    </a:cubicBezTo>
                    <a:cubicBezTo>
                      <a:pt x="47625" y="73928"/>
                      <a:pt x="26303" y="95250"/>
                      <a:pt x="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368425" y="4298950"/>
                <a:ext cx="476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90500">
                    <a:moveTo>
                      <a:pt x="47625" y="0"/>
                    </a:moveTo>
                    <a:lnTo>
                      <a:pt x="47625" y="174625"/>
                    </a:lnTo>
                    <a:cubicBezTo>
                      <a:pt x="47625" y="183393"/>
                      <a:pt x="40518" y="190500"/>
                      <a:pt x="31750" y="190500"/>
                    </a:cubicBezTo>
                    <a:lnTo>
                      <a:pt x="15875" y="190500"/>
                    </a:lnTo>
                    <a:cubicBezTo>
                      <a:pt x="7107" y="190500"/>
                      <a:pt x="0" y="183393"/>
                      <a:pt x="0" y="174625"/>
                    </a:cubicBezTo>
                    <a:lnTo>
                      <a:pt x="0" y="952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304925" y="4234790"/>
                <a:ext cx="238128" cy="223572"/>
              </a:xfrm>
              <a:custGeom>
                <a:avLst/>
                <a:gdLst/>
                <a:ahLst/>
                <a:cxnLst/>
                <a:rect l="l" t="t" r="r" b="b"/>
                <a:pathLst>
                  <a:path w="238128" h="223572">
                    <a:moveTo>
                      <a:pt x="142875" y="64161"/>
                    </a:moveTo>
                    <a:lnTo>
                      <a:pt x="214694" y="4312"/>
                    </a:lnTo>
                    <a:cubicBezTo>
                      <a:pt x="218954" y="763"/>
                      <a:pt x="224883" y="0"/>
                      <a:pt x="229903" y="2354"/>
                    </a:cubicBezTo>
                    <a:cubicBezTo>
                      <a:pt x="234923" y="4707"/>
                      <a:pt x="238128" y="9753"/>
                      <a:pt x="238125" y="15297"/>
                    </a:cubicBezTo>
                    <a:lnTo>
                      <a:pt x="238125" y="208274"/>
                    </a:lnTo>
                    <a:cubicBezTo>
                      <a:pt x="238128" y="213819"/>
                      <a:pt x="234923" y="218864"/>
                      <a:pt x="229903" y="221218"/>
                    </a:cubicBezTo>
                    <a:cubicBezTo>
                      <a:pt x="224883" y="223572"/>
                      <a:pt x="218954" y="222808"/>
                      <a:pt x="214694" y="219260"/>
                    </a:cubicBezTo>
                    <a:lnTo>
                      <a:pt x="142875" y="159411"/>
                    </a:lnTo>
                    <a:lnTo>
                      <a:pt x="15875" y="159411"/>
                    </a:lnTo>
                    <a:cubicBezTo>
                      <a:pt x="7107" y="159411"/>
                      <a:pt x="0" y="152303"/>
                      <a:pt x="0" y="143536"/>
                    </a:cubicBezTo>
                    <a:lnTo>
                      <a:pt x="0" y="80036"/>
                    </a:lnTo>
                    <a:cubicBezTo>
                      <a:pt x="0" y="71268"/>
                      <a:pt x="7107" y="64161"/>
                      <a:pt x="15875" y="64161"/>
                    </a:cubicBezTo>
                    <a:lnTo>
                      <a:pt x="142875" y="64161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969008" y="40462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传递心声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72818" y="4451032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及时传递同学们的心声，当好老师与同学之间的桥梁纽带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707866" y="43176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" y="4991100"/>
            <a:ext cx="10363200" cy="876300"/>
            <a:chOff x="914400" y="4991100"/>
            <a:chExt cx="10363200" cy="876300"/>
          </a:xfrm>
        </p:grpSpPr>
        <p:sp>
          <p:nvSpPr>
            <p:cNvPr id="26" name="Rectangle 26"/>
            <p:cNvSpPr/>
            <p:nvPr/>
          </p:nvSpPr>
          <p:spPr>
            <a:xfrm>
              <a:off x="914400" y="4991100"/>
              <a:ext cx="10363200" cy="876300"/>
            </a:xfrm>
            <a:prstGeom prst="roundRect">
              <a:avLst>
                <a:gd name="adj" fmla="val 1739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299428" y="5298177"/>
              <a:ext cx="296457" cy="258073"/>
            </a:xfrm>
            <a:custGeom>
              <a:avLst/>
              <a:gdLst/>
              <a:ahLst/>
              <a:cxnLst/>
              <a:rect l="l" t="t" r="r" b="b"/>
              <a:pathLst>
                <a:path w="296457" h="258073">
                  <a:moveTo>
                    <a:pt x="267435" y="140153"/>
                  </a:moveTo>
                  <a:lnTo>
                    <a:pt x="148372" y="258073"/>
                  </a:lnTo>
                  <a:lnTo>
                    <a:pt x="29310" y="140153"/>
                  </a:lnTo>
                  <a:cubicBezTo>
                    <a:pt x="7899" y="119319"/>
                    <a:pt x="0" y="88227"/>
                    <a:pt x="8870" y="59699"/>
                  </a:cubicBezTo>
                  <a:cubicBezTo>
                    <a:pt x="17740" y="31172"/>
                    <a:pt x="41877" y="10041"/>
                    <a:pt x="71327" y="5020"/>
                  </a:cubicBezTo>
                  <a:cubicBezTo>
                    <a:pt x="100777" y="0"/>
                    <a:pt x="130551" y="11941"/>
                    <a:pt x="148372" y="35918"/>
                  </a:cubicBezTo>
                  <a:cubicBezTo>
                    <a:pt x="166268" y="12118"/>
                    <a:pt x="195979" y="336"/>
                    <a:pt x="225322" y="5403"/>
                  </a:cubicBezTo>
                  <a:cubicBezTo>
                    <a:pt x="254665" y="10471"/>
                    <a:pt x="278704" y="31535"/>
                    <a:pt x="287580" y="59958"/>
                  </a:cubicBezTo>
                  <a:cubicBezTo>
                    <a:pt x="296457" y="88382"/>
                    <a:pt x="288679" y="119383"/>
                    <a:pt x="267435" y="140249"/>
                  </a:cubicBez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969008" y="51130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解决问题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72818" y="5517832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90000"/>
                    </a:srgbClr>
                  </a:solidFill>
                  <a:latin typeface="+mn-lt"/>
                  <a:ea typeface="+mn-ea"/>
                  <a:cs typeface="+mn-cs"/>
                </a:rPr>
                <a:t>协助解决实际问题，把服务做到同学们的心坎上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707866" y="53844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963656" y="63588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09 / 12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4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xmlns:p="http://schemas.openxmlformats.org/presentationml/2006/main" id="1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9600" y="1936782"/>
            <a:ext cx="11321717" cy="4616418"/>
            <a:chOff x="609600" y="1936782"/>
            <a:chExt cx="11321717" cy="4616418"/>
          </a:xfrm>
        </p:grpSpPr>
        <p:sp>
          <p:nvSpPr>
            <p:cNvPr id="2" name="Freeform 2"/>
            <p:cNvSpPr/>
            <p:nvPr/>
          </p:nvSpPr>
          <p:spPr>
            <a:xfrm>
              <a:off x="11614261" y="1936782"/>
              <a:ext cx="317056" cy="301514"/>
            </a:xfrm>
            <a:custGeom>
              <a:avLst/>
              <a:gdLst/>
              <a:ahLst/>
              <a:cxnLst/>
              <a:rect l="l" t="t" r="r" b="b"/>
              <a:pathLst>
                <a:path w="317056" h="301514">
                  <a:moveTo>
                    <a:pt x="158639" y="250000"/>
                  </a:moveTo>
                  <a:lnTo>
                    <a:pt x="60658" y="301514"/>
                  </a:lnTo>
                  <a:lnTo>
                    <a:pt x="79375" y="192405"/>
                  </a:lnTo>
                  <a:lnTo>
                    <a:pt x="0" y="115142"/>
                  </a:lnTo>
                  <a:lnTo>
                    <a:pt x="109538" y="99267"/>
                  </a:lnTo>
                  <a:lnTo>
                    <a:pt x="158528" y="0"/>
                  </a:lnTo>
                  <a:lnTo>
                    <a:pt x="207518" y="99267"/>
                  </a:lnTo>
                  <a:lnTo>
                    <a:pt x="317056" y="115142"/>
                  </a:lnTo>
                  <a:lnTo>
                    <a:pt x="237681" y="192405"/>
                  </a:lnTo>
                  <a:lnTo>
                    <a:pt x="256398" y="301514"/>
                  </a:lnTo>
                  <a:lnTo>
                    <a:pt x="158639" y="250000"/>
                  </a:ln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609600" y="5638800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95350" y="1470660"/>
            <a:ext cx="5121402" cy="1390650"/>
            <a:chOff x="895350" y="1470660"/>
            <a:chExt cx="5121402" cy="139065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1470660"/>
              <a:ext cx="207355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" y="2476500"/>
              <a:ext cx="152400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848356" y="20726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打造便捷高效的线上团学阵地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" y="2857500"/>
            <a:ext cx="4000500" cy="3524250"/>
            <a:chOff x="914400" y="2857500"/>
            <a:chExt cx="4000500" cy="3524250"/>
          </a:xfrm>
        </p:grpSpPr>
        <p:sp>
          <p:nvSpPr>
            <p:cNvPr id="9" name="Rectangle 9"/>
            <p:cNvSpPr/>
            <p:nvPr/>
          </p:nvSpPr>
          <p:spPr>
            <a:xfrm>
              <a:off x="914400" y="2857500"/>
              <a:ext cx="4000500" cy="3524250"/>
            </a:xfrm>
            <a:prstGeom prst="roundRect">
              <a:avLst>
                <a:gd name="adj" fmla="val 6486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327261" y="3308382"/>
              <a:ext cx="317056" cy="301514"/>
            </a:xfrm>
            <a:custGeom>
              <a:avLst/>
              <a:gdLst/>
              <a:ahLst/>
              <a:cxnLst/>
              <a:rect l="l" t="t" r="r" b="b"/>
              <a:pathLst>
                <a:path w="317056" h="301514">
                  <a:moveTo>
                    <a:pt x="158639" y="250000"/>
                  </a:moveTo>
                  <a:lnTo>
                    <a:pt x="60658" y="301514"/>
                  </a:lnTo>
                  <a:lnTo>
                    <a:pt x="79375" y="192405"/>
                  </a:lnTo>
                  <a:lnTo>
                    <a:pt x="0" y="115142"/>
                  </a:lnTo>
                  <a:lnTo>
                    <a:pt x="109538" y="99267"/>
                  </a:lnTo>
                  <a:lnTo>
                    <a:pt x="158528" y="0"/>
                  </a:lnTo>
                  <a:lnTo>
                    <a:pt x="207518" y="99267"/>
                  </a:lnTo>
                  <a:lnTo>
                    <a:pt x="317056" y="115142"/>
                  </a:lnTo>
                  <a:lnTo>
                    <a:pt x="237681" y="192405"/>
                  </a:lnTo>
                  <a:lnTo>
                    <a:pt x="256398" y="301514"/>
                  </a:lnTo>
                  <a:lnTo>
                    <a:pt x="158639" y="250000"/>
                  </a:ln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77112" y="4088130"/>
              <a:ext cx="258089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让团的声音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7112" y="4678680"/>
              <a:ext cx="207203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融入日常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86256" y="5711190"/>
              <a:ext cx="34834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>
                      <a:alphaMod val="70000"/>
                    </a:srgbClr>
                  </a:solidFill>
                  <a:latin typeface="+mn-lt"/>
                  <a:ea typeface="+mn-ea"/>
                  <a:cs typeface="+mn-cs"/>
                </a:rPr>
                <a:t>班级群 · 校园新媒体 · 线上阵地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34000" y="2857500"/>
            <a:ext cx="5943600" cy="1020889"/>
            <a:chOff x="5334000" y="2857500"/>
            <a:chExt cx="5943600" cy="1020889"/>
          </a:xfrm>
        </p:grpSpPr>
        <p:sp>
          <p:nvSpPr>
            <p:cNvPr id="15" name="Rectangle 15"/>
            <p:cNvSpPr/>
            <p:nvPr/>
          </p:nvSpPr>
          <p:spPr>
            <a:xfrm>
              <a:off x="5334000" y="2857500"/>
              <a:ext cx="5943600" cy="990600"/>
            </a:xfrm>
            <a:prstGeom prst="roundRect">
              <a:avLst>
                <a:gd name="adj" fmla="val 153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02808" y="32842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26708" y="31699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班级群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30518" y="3555682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依托班级群宣传团务知识，让团务信息触手可及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0" y="4038600"/>
            <a:ext cx="5943600" cy="1020889"/>
            <a:chOff x="5334000" y="4038600"/>
            <a:chExt cx="5943600" cy="1020889"/>
          </a:xfrm>
        </p:grpSpPr>
        <p:sp>
          <p:nvSpPr>
            <p:cNvPr id="20" name="Rectangle 20"/>
            <p:cNvSpPr/>
            <p:nvPr/>
          </p:nvSpPr>
          <p:spPr>
            <a:xfrm>
              <a:off x="5334000" y="4038600"/>
              <a:ext cx="5943600" cy="990600"/>
            </a:xfrm>
            <a:prstGeom prst="roundRect">
              <a:avLst>
                <a:gd name="adj" fmla="val 153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02808" y="44653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6708" y="43510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校园新媒体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0518" y="47367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展示团员风采，推送正能量内容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0" y="5219700"/>
            <a:ext cx="5943600" cy="1020889"/>
            <a:chOff x="5334000" y="5219700"/>
            <a:chExt cx="5943600" cy="1020889"/>
          </a:xfrm>
        </p:grpSpPr>
        <p:sp>
          <p:nvSpPr>
            <p:cNvPr id="25" name="Rectangle 25"/>
            <p:cNvSpPr/>
            <p:nvPr/>
          </p:nvSpPr>
          <p:spPr>
            <a:xfrm>
              <a:off x="5334000" y="5219700"/>
              <a:ext cx="5943600" cy="990600"/>
            </a:xfrm>
            <a:prstGeom prst="roundRect">
              <a:avLst>
                <a:gd name="adj" fmla="val 153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02808" y="56464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26708" y="55321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线上团学阵地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0518" y="591788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90000"/>
                    </a:srgbClr>
                  </a:solidFill>
                  <a:latin typeface="+mn-lt"/>
                  <a:ea typeface="+mn-ea"/>
                  <a:cs typeface="+mn-cs"/>
                </a:rPr>
                <a:t>打造便捷高效的线上阵地，拓宽宣传覆盖面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963656" y="63588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10 / 12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3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50"/>
                            </p:stCondLst>
                            <p:childTnLst>
                              <p:par>
                                <p:cTn xmlns:p="http://schemas.openxmlformats.org/presentationml/2006/main" id="18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50"/>
                            </p:stCondLst>
                            <p:childTnLst>
                              <p:par>
                                <p:cTn xmlns:p="http://schemas.openxmlformats.org/presentationml/2006/main" id="23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43075" y="1095404"/>
            <a:ext cx="11877575" cy="6048346"/>
            <a:chOff x="943075" y="1095404"/>
            <a:chExt cx="11877575" cy="6048346"/>
          </a:xfrm>
        </p:grpSpPr>
        <p:sp>
          <p:nvSpPr>
            <p:cNvPr id="2" name="Ellipse 2"/>
            <p:cNvSpPr/>
            <p:nvPr/>
          </p:nvSpPr>
          <p:spPr>
            <a:xfrm>
              <a:off x="10344150" y="4667250"/>
              <a:ext cx="2476500" cy="2476500"/>
            </a:xfrm>
            <a:prstGeom prst="ellipse">
              <a:avLst/>
            </a:prstGeom>
            <a:noFill/>
            <a:ln w="95250">
              <a:solidFill>
                <a:schemeClr val="accent1"/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943075" y="1095404"/>
              <a:ext cx="285350" cy="271362"/>
            </a:xfrm>
            <a:custGeom>
              <a:avLst/>
              <a:gdLst/>
              <a:ahLst/>
              <a:cxnLst/>
              <a:rect l="l" t="t" r="r" b="b"/>
              <a:pathLst>
                <a:path w="285350" h="271362">
                  <a:moveTo>
                    <a:pt x="142775" y="225000"/>
                  </a:moveTo>
                  <a:lnTo>
                    <a:pt x="54593" y="271362"/>
                  </a:lnTo>
                  <a:lnTo>
                    <a:pt x="71438" y="173164"/>
                  </a:lnTo>
                  <a:lnTo>
                    <a:pt x="0" y="103627"/>
                  </a:lnTo>
                  <a:lnTo>
                    <a:pt x="98584" y="89340"/>
                  </a:lnTo>
                  <a:lnTo>
                    <a:pt x="142675" y="0"/>
                  </a:lnTo>
                  <a:lnTo>
                    <a:pt x="186766" y="89340"/>
                  </a:lnTo>
                  <a:lnTo>
                    <a:pt x="285350" y="103627"/>
                  </a:lnTo>
                  <a:lnTo>
                    <a:pt x="213912" y="173164"/>
                  </a:lnTo>
                  <a:lnTo>
                    <a:pt x="230757" y="271362"/>
                  </a:lnTo>
                  <a:lnTo>
                    <a:pt x="142775" y="2250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95350" y="1470660"/>
            <a:ext cx="4394454" cy="1390650"/>
            <a:chOff x="895350" y="1470660"/>
            <a:chExt cx="4394454" cy="139065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1470660"/>
              <a:ext cx="207355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" y="2476500"/>
              <a:ext cx="152400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848356" y="20726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一支向上的团干部队伍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" y="2857500"/>
            <a:ext cx="3048000" cy="2952750"/>
            <a:chOff x="914400" y="2857500"/>
            <a:chExt cx="3048000" cy="2952750"/>
          </a:xfrm>
        </p:grpSpPr>
        <p:sp>
          <p:nvSpPr>
            <p:cNvPr id="9" name="Rectangle 9"/>
            <p:cNvSpPr/>
            <p:nvPr/>
          </p:nvSpPr>
          <p:spPr>
            <a:xfrm>
              <a:off x="914400" y="2857500"/>
              <a:ext cx="3048000" cy="2952750"/>
            </a:xfrm>
            <a:prstGeom prst="roundRect">
              <a:avLst>
                <a:gd name="adj" fmla="val 645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0912" y="3707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07008" y="44653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定期培训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0818" y="5022532"/>
              <a:ext cx="211226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定期组织团干部培训，</a:t>
              </a:r>
              <a:br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提升团队整体素质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267200" y="2857500"/>
            <a:ext cx="3246882" cy="2952750"/>
            <a:chOff x="4267200" y="2857500"/>
            <a:chExt cx="3246882" cy="2952750"/>
          </a:xfrm>
        </p:grpSpPr>
        <p:sp>
          <p:nvSpPr>
            <p:cNvPr id="14" name="Rectangle 14"/>
            <p:cNvSpPr/>
            <p:nvPr/>
          </p:nvSpPr>
          <p:spPr>
            <a:xfrm>
              <a:off x="4267200" y="2857500"/>
              <a:ext cx="3048000" cy="2952750"/>
            </a:xfrm>
            <a:prstGeom prst="roundRect">
              <a:avLst>
                <a:gd name="adj" fmla="val 645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53712" y="3707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59808" y="44653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素质提升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63618" y="5022532"/>
              <a:ext cx="295046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让每一位团干部都能独当一面、</a:t>
              </a:r>
              <a:br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扛得起任务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0" y="2857500"/>
            <a:ext cx="3048000" cy="2952750"/>
            <a:chOff x="7620000" y="2857500"/>
            <a:chExt cx="3048000" cy="2952750"/>
          </a:xfrm>
        </p:grpSpPr>
        <p:sp>
          <p:nvSpPr>
            <p:cNvPr id="19" name="Rectangle 19"/>
            <p:cNvSpPr/>
            <p:nvPr/>
          </p:nvSpPr>
          <p:spPr>
            <a:xfrm>
              <a:off x="7620000" y="2857500"/>
              <a:ext cx="3048000" cy="2952750"/>
            </a:xfrm>
            <a:prstGeom prst="roundRect">
              <a:avLst>
                <a:gd name="adj" fmla="val 645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6512" y="3707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12608" y="44653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团结氛围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16418" y="5022532"/>
              <a:ext cx="232181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rgbClr val="FFFFFF">
                      <a:alphaMod val="90000"/>
                    </a:srgbClr>
                  </a:solidFill>
                  <a:latin typeface="+mn-lt"/>
                  <a:ea typeface="+mn-ea"/>
                  <a:cs typeface="+mn-cs"/>
                </a:rPr>
                <a:t>营造团结协作、积极向上</a:t>
              </a:r>
              <a:br/>
              <a:r>
                <a:rPr lang="zh-CN" sz="1650" dirty="0">
                  <a:solidFill>
                    <a:srgbClr val="FFFFFF">
                      <a:alphaMod val="90000"/>
                    </a:srgbClr>
                  </a:solidFill>
                  <a:latin typeface="+mn-lt"/>
                  <a:ea typeface="+mn-ea"/>
                  <a:cs typeface="+mn-cs"/>
                </a:rPr>
                <a:t>的工作氛围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963656" y="63588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11 / 12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4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xmlns:p="http://schemas.openxmlformats.org/presentationml/2006/main" id="1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857450" y="1200207"/>
            <a:ext cx="4476550" cy="5467293"/>
            <a:chOff x="857450" y="1200207"/>
            <a:chExt cx="4476550" cy="5467293"/>
          </a:xfrm>
        </p:grpSpPr>
        <p:sp>
          <p:nvSpPr>
            <p:cNvPr id="3" name="Freeform 3"/>
            <p:cNvSpPr/>
            <p:nvPr/>
          </p:nvSpPr>
          <p:spPr>
            <a:xfrm>
              <a:off x="857450" y="1200207"/>
              <a:ext cx="570700" cy="542725"/>
            </a:xfrm>
            <a:custGeom>
              <a:avLst/>
              <a:gdLst/>
              <a:ahLst/>
              <a:cxnLst/>
              <a:rect l="l" t="t" r="r" b="b"/>
              <a:pathLst>
                <a:path w="570700" h="542725">
                  <a:moveTo>
                    <a:pt x="285550" y="449999"/>
                  </a:moveTo>
                  <a:lnTo>
                    <a:pt x="109185" y="542725"/>
                  </a:lnTo>
                  <a:lnTo>
                    <a:pt x="142875" y="346329"/>
                  </a:lnTo>
                  <a:lnTo>
                    <a:pt x="0" y="207254"/>
                  </a:lnTo>
                  <a:lnTo>
                    <a:pt x="197168" y="178679"/>
                  </a:lnTo>
                  <a:lnTo>
                    <a:pt x="285350" y="0"/>
                  </a:lnTo>
                  <a:lnTo>
                    <a:pt x="373532" y="178679"/>
                  </a:lnTo>
                  <a:lnTo>
                    <a:pt x="570700" y="207254"/>
                  </a:lnTo>
                  <a:lnTo>
                    <a:pt x="427825" y="346329"/>
                  </a:lnTo>
                  <a:lnTo>
                    <a:pt x="461515" y="542725"/>
                  </a:lnTo>
                  <a:lnTo>
                    <a:pt x="285550" y="449999"/>
                  </a:lnTo>
                </a:path>
              </a:pathLst>
            </a:custGeom>
            <a:noFill/>
            <a:ln w="57150">
              <a:solidFill>
                <a:schemeClr val="accent2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4191000" y="5524500"/>
              <a:ext cx="1143000" cy="1143000"/>
            </a:xfrm>
            <a:prstGeom prst="ellipse">
              <a:avLst/>
            </a:prstGeom>
            <a:noFill/>
            <a:ln w="76200">
              <a:solidFill>
                <a:schemeClr val="accent2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66750" y="2842260"/>
            <a:ext cx="3993642" cy="2530602"/>
            <a:chOff x="666750" y="2842260"/>
            <a:chExt cx="3993642" cy="2530602"/>
          </a:xfrm>
        </p:grpSpPr>
        <p:sp>
          <p:nvSpPr>
            <p:cNvPr id="6" name="TextBox 6"/>
            <p:cNvSpPr txBox="1"/>
            <p:nvPr/>
          </p:nvSpPr>
          <p:spPr>
            <a:xfrm>
              <a:off x="666750" y="2842260"/>
              <a:ext cx="207355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责任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943350"/>
              <a:ext cx="114300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3608" y="4446270"/>
              <a:ext cx="39867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团总支书记不仅是一份荣誉，</a:t>
              </a:r>
              <a:br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更是一份沉甸甸的责任。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887212" y="1992630"/>
            <a:ext cx="3493770" cy="1085659"/>
            <a:chOff x="5887212" y="1992630"/>
            <a:chExt cx="3493770" cy="1085659"/>
          </a:xfrm>
        </p:grpSpPr>
        <p:sp>
          <p:nvSpPr>
            <p:cNvPr id="10" name="TextBox 10"/>
            <p:cNvSpPr txBox="1"/>
            <p:nvPr/>
          </p:nvSpPr>
          <p:spPr>
            <a:xfrm>
              <a:off x="5887212" y="19926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45808" y="20078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认真履职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49618" y="2469832"/>
              <a:ext cx="253136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以高度的责任心和使命感，</a:t>
              </a:r>
              <a:br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不辜负老师和同学们的期望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887212" y="3230880"/>
            <a:ext cx="4977384" cy="799909"/>
            <a:chOff x="5887212" y="3230880"/>
            <a:chExt cx="4977384" cy="799909"/>
          </a:xfrm>
        </p:grpSpPr>
        <p:sp>
          <p:nvSpPr>
            <p:cNvPr id="14" name="TextBox 14"/>
            <p:cNvSpPr txBox="1"/>
            <p:nvPr/>
          </p:nvSpPr>
          <p:spPr>
            <a:xfrm>
              <a:off x="5887212" y="32308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45808" y="32461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开放倾听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49618" y="3708082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保持开放的心态，倾听大家的意见与建议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887212" y="4469130"/>
            <a:ext cx="3493770" cy="1085659"/>
            <a:chOff x="5887212" y="4469130"/>
            <a:chExt cx="3493770" cy="1085659"/>
          </a:xfrm>
        </p:grpSpPr>
        <p:sp>
          <p:nvSpPr>
            <p:cNvPr id="18" name="TextBox 18"/>
            <p:cNvSpPr txBox="1"/>
            <p:nvPr/>
          </p:nvSpPr>
          <p:spPr>
            <a:xfrm>
              <a:off x="5887212" y="4469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45808" y="44843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携手同行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9618" y="4946332"/>
              <a:ext cx="253136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与全体团员青年携手并进，</a:t>
              </a:r>
              <a:br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共同创造更加辉煌的明天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905500" y="5638800"/>
            <a:ext cx="5334000" cy="610362"/>
            <a:chOff x="5905500" y="5638800"/>
            <a:chExt cx="5334000" cy="610362"/>
          </a:xfrm>
        </p:grpSpPr>
        <p:sp>
          <p:nvSpPr>
            <p:cNvPr id="22" name="Rectangle 22"/>
            <p:cNvSpPr/>
            <p:nvPr/>
          </p:nvSpPr>
          <p:spPr>
            <a:xfrm>
              <a:off x="5905500" y="5638800"/>
              <a:ext cx="5334000" cy="609600"/>
            </a:xfrm>
            <a:prstGeom prst="roundRect">
              <a:avLst>
                <a:gd name="adj" fmla="val 2187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38653" y="5779770"/>
              <a:ext cx="34676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请投我一票 · 谢谢大家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963656" y="63588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4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xmlns:p="http://schemas.openxmlformats.org/presentationml/2006/main" id="1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50"/>
                            </p:stCondLst>
                            <p:childTnLst>
                              <p:par>
                                <p:cTn xmlns:p="http://schemas.openxmlformats.org/presentationml/2006/main" id="24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团支书竞选PPT">
  <a:themeElements>
    <a:clrScheme name="团支书竞选PPT">
      <a:dk1>
        <a:srgbClr val="0A0A0A"/>
      </a:dk1>
      <a:lt1>
        <a:srgbClr val="FFFFFF"/>
      </a:lt1>
      <a:dk2>
        <a:srgbClr val="1F497D"/>
      </a:dk2>
      <a:lt2>
        <a:srgbClr val="FFFFFF"/>
      </a:lt2>
      <a:accent1>
        <a:srgbClr val="E60012"/>
      </a:accent1>
      <a:accent2>
        <a:srgbClr val="C9A227"/>
      </a:accent2>
      <a:accent3>
        <a:srgbClr val="8C8C8C"/>
      </a:accent3>
      <a:accent4>
        <a:srgbClr val="E60012"/>
      </a:accent4>
      <a:accent5>
        <a:srgbClr val="FBEDEE"/>
      </a:accent5>
      <a:accent6>
        <a:srgbClr val="F79646"/>
      </a:accent6>
      <a:hlink>
        <a:srgbClr val="C9A227"/>
      </a:hlink>
      <a:folHlink>
        <a:srgbClr val="8C8C8C"/>
      </a:folHlink>
    </a:clrScheme>
    <a:fontScheme name="团支书竞选PPT">
      <a:majorFont>
        <a:latin typeface="Arial"/>
        <a:ea typeface="Microsoft YaHei UI"/>
        <a:cs typeface="Arial"/>
        <a:font script="Jpan" typeface="Microsoft YaHei UI"/>
        <a:font script="Hang" typeface="Microsoft YaHei UI"/>
        <a:font script="Hans" typeface="Microsoft YaHei UI"/>
        <a:font script="Hant" typeface="Microsoft YaHei U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团支书竞选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团支书竞选PPT">
  <a:themeElements>
    <a:clrScheme name="团支书竞选PPT">
      <a:dk1>
        <a:srgbClr val="0A0A0A"/>
      </a:dk1>
      <a:lt1>
        <a:srgbClr val="FFFFFF"/>
      </a:lt1>
      <a:dk2>
        <a:srgbClr val="1F497D"/>
      </a:dk2>
      <a:lt2>
        <a:srgbClr val="FFFFFF"/>
      </a:lt2>
      <a:accent1>
        <a:srgbClr val="E60012"/>
      </a:accent1>
      <a:accent2>
        <a:srgbClr val="C9A227"/>
      </a:accent2>
      <a:accent3>
        <a:srgbClr val="8C8C8C"/>
      </a:accent3>
      <a:accent4>
        <a:srgbClr val="E60012"/>
      </a:accent4>
      <a:accent5>
        <a:srgbClr val="FBEDEE"/>
      </a:accent5>
      <a:accent6>
        <a:srgbClr val="F79646"/>
      </a:accent6>
      <a:hlink>
        <a:srgbClr val="C9A227"/>
      </a:hlink>
      <a:folHlink>
        <a:srgbClr val="8C8C8C"/>
      </a:folHlink>
    </a:clrScheme>
    <a:fontScheme name="团支书竞选PPT">
      <a:majorFont>
        <a:latin typeface="Arial"/>
        <a:ea typeface="Microsoft YaHei UI"/>
        <a:cs typeface="Arial"/>
        <a:font script="Jpan" typeface="Microsoft YaHei UI"/>
        <a:font script="Hang" typeface="Microsoft YaHei UI"/>
        <a:font script="Hans" typeface="Microsoft YaHei UI"/>
        <a:font script="Hant" typeface="Microsoft YaHei U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团支书竞选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2026-08-02T12:34:53Z</dcterms:created>
  <dcterms:modified xsi:type="dcterms:W3CDTF">2026-08-02T12:34:53Z</dcterms:modified>
  <cp:category/>
  <cp:contentStatus/>
</cp:coreProperties>
</file>